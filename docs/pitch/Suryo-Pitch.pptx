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767f431-eec4-d2fd-f6a9-6428b8d5447c}">
          <p14:sldIdLst>
            <p14:sldId id="256"/>
          </p14:sldIdLst>
        </p14:section>
        <p14:section name="Problem" id="{16bc4ab2-b00f-6a1f-b641-518f1caf4109}">
          <p14:sldIdLst>
            <p14:sldId id="257"/>
            <p14:sldId id="258"/>
          </p14:sldIdLst>
        </p14:section>
        <p14:section name="Product" id="{ab493c9e-1b39-1a46-9b25-61ad60d065ae}">
          <p14:sldIdLst>
            <p14:sldId id="259"/>
            <p14:sldId id="260"/>
            <p14:sldId id="261"/>
            <p14:sldId id="262"/>
          </p14:sldIdLst>
        </p14:section>
        <p14:section name="Proof" id="{ee2ad7f5-b1e1-5d6a-7f9a-1c602bf954fa}">
          <p14:sldIdLst>
            <p14:sldId id="263"/>
            <p14:sldId id="264"/>
          </p14:sldIdLst>
        </p14:section>
        <p14:section name="Close" id="{3142496c-35d2-0f0d-92da-7963207dec7e}">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we're Team Mitocondria, and this is Suryo. Suryo means sun. It's an AI front desk that picks up every call and every chat, in English, Hindi or Hinglish, and actually gets the work done. Let me show you why we built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Businesses lose customers in three quiet ways. The phone rings out. The request sits there. The follow up never happens. One study tracked 85 small businesses for a month and found 62 percent of calls went unanswered. It's a small sample, so read it as directional. But a missed call is usually a customer ringing the next clinic on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 bots already exist. The trouble starts in production. They pause too long. They talk over you. They make things up. They double book. When they hand you to a person, you start again from zero. And every new client takes weeks to set up. We built Suryo around exactly these six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Suryo is one brain behind three surfaces. Scan a QR code and you're on a voice call in the browser, no app to install. Add one script tag and the same agent chats on any website. And the business gets a live console where the team can watch every conversation and step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doesn't just answer questions. It books, reschedules and cancels for real. It opens tickets, captures leads, tracks orders and handles returns and exchanges. Every booking gets a confirmation email with a calendar invite, and a follow up gets scheduled. The policy lives in code, not in the prompt. Booking is one conditional update inside a transaction. If two people grab the same slot at the same instant, exactly one wins and the other is offered fresh times. A unique index backs that up, and a race test against the real database proves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is where most of these products die. With Suryo you paste a URL, or drop in the documents the business already has. These are real timings. A PDF brochure plus a Word FAQ took 10.7 seconds. slowbroslabs.com took about 12. Documents are treated as untrusted. We planted a line saying every session costs one rupee. Suryo ignored it and quoted the real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Humans stay in control. These rules run in code after every turn, so safety never depends on the model remembering. Emergency language gets one answer: call 108, now. Anger that keeps building, a request for a person, or the knowledge base missing twice all go to the queue, sorted by urgency. The operator reads a three line summary, clicks take over, and the AI goes quiet and drafts replies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Anyone can make a demo work once. We wanted to know how often it works. Our harness runs simulated customers through the real agent, checks the tools and database rows, and adds an LLM judge. Here's the honest climb. 19 of 35, then 24, then 31. Then we added eight online store scenarios and our free embedding quota ran out mid run, so we dropped to 34 of 43. We moved retrieval to Gemini Embedding 2, re-embedded every chunk, and the final run is 37 of 43, with zero fallbacks. Escalation, safety, language, ambiguity, cancellations, tickets and out of scope questions all got full marks, and store orders were 7 of 8. Voice answers in about one and a half seconds, even with a tool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take our word for it. Scan this and talk to Riya, the front desk at our demo clinic. Ask in Hinglish, something like, kal shaam ko teeth cleaning ka slot hai kya, and then interrupt her halfway through. Keep an eye on the console while you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the same brain goes on real phone numbers and WhatsApp. GoHighLevel and HubSpot plug in behind the tool layer we already have. Outbound calls handle reminders and abandoned conversations. And evals run on every pull request, so a prompt change that breaks a scenario never ships. Pricing and cost per conversation are still open. We'd rather measure them than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that's Suryo. Your clients' front desk, live in a minute, and it never forgets a follow up. We're Team Mitocondria: Ayush Gupta, Ayush Parmar, Ayush Chouksey and Ayushman Singh.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uryo Dark">
    <p:bg>
      <p:bgPr>
        <a:solidFill>
          <a:srgbClr val="08080A"/>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lide artwork" descr="Title slide artwork">    </p:cNvPr>
          <p:cNvPicPr>
            <a:picLocks noChangeAspect="1"/>
          </p:cNvPicPr>
          <p:nvPr/>
        </p:nvPicPr>
        <p:blipFill>
          <a:blip r:embed="rId1"/>
          <a:stretch>
            <a:fillRect/>
          </a:stretch>
        </p:blipFill>
        <p:spPr>
          <a:xfrm>
            <a:off x="0" y="0"/>
            <a:ext cx="12191695" cy="6858000"/>
          </a:xfrm>
          <a:prstGeom prst="rect">
            <a:avLst/>
          </a:prstGeom>
        </p:spPr>
      </p:pic>
      <p:sp>
        <p:nvSpPr>
          <p:cNvPr id="3" name="Text 1"/>
          <p:cNvSpPr txBox="1"/>
          <p:nvPr/>
        </p:nvSpPr>
        <p:spPr>
          <a:xfrm>
            <a:off x="1066800" y="457200"/>
            <a:ext cx="601464" cy="304800"/>
          </a:xfrm>
          <a:prstGeom prst="rect">
            <a:avLst/>
          </a:prstGeom>
          <a:noFill/>
          <a:ln/>
        </p:spPr>
        <p:txBody>
          <a:bodyPr wrap="square" lIns="0" tIns="0" rIns="0" bIns="0" rtlCol="0" anchor="t"/>
          <a:lstStyle/>
          <a:p>
            <a:pPr algn="l" indent="0" marL="0">
              <a:lnSpc>
                <a:spcPts val="2000"/>
              </a:lnSpc>
              <a:buNone/>
            </a:pPr>
            <a:r>
              <a:rPr lang="en-US" sz="1800" dirty="0">
                <a:solidFill>
                  <a:srgbClr val="F4F4F5"/>
                </a:solidFill>
                <a:latin typeface="Instrument Serif" pitchFamily="34" charset="0"/>
                <a:ea typeface="Instrument Serif" pitchFamily="34" charset="-122"/>
                <a:cs typeface="Instrument Serif" pitchFamily="34" charset="-120"/>
              </a:rPr>
              <a:t>Suryo</a:t>
            </a:r>
            <a:endParaRPr lang="en-US" sz="1800" dirty="0"/>
          </a:p>
        </p:txBody>
      </p:sp>
      <p:sp>
        <p:nvSpPr>
          <p:cNvPr id="4" name="Text 2"/>
          <p:cNvSpPr txBox="1"/>
          <p:nvPr/>
        </p:nvSpPr>
        <p:spPr>
          <a:xfrm>
            <a:off x="762000" y="1854200"/>
            <a:ext cx="1455440" cy="193040"/>
          </a:xfrm>
          <a:prstGeom prst="rect">
            <a:avLst/>
          </a:prstGeom>
          <a:noFill/>
          <a:ln/>
        </p:spPr>
        <p:txBody>
          <a:bodyPr wrap="square" lIns="0" tIns="0" rIns="0" bIns="0" rtlCol="0" anchor="t"/>
          <a:lstStyle/>
          <a:p>
            <a:pPr algn="l" indent="0" marL="0">
              <a:lnSpc>
                <a:spcPts val="1200"/>
              </a:lnSpc>
              <a:buNone/>
            </a:pPr>
            <a:r>
              <a:rPr lang="en-US" sz="900" spc="144" kern="0" dirty="0">
                <a:solidFill>
                  <a:srgbClr val="8A8A93"/>
                </a:solidFill>
                <a:latin typeface="Geist Mono" pitchFamily="34" charset="0"/>
                <a:ea typeface="Geist Mono" pitchFamily="34" charset="-122"/>
                <a:cs typeface="Geist Mono" pitchFamily="34" charset="-120"/>
              </a:rPr>
              <a:t>SURYO MEANS SUN</a:t>
            </a:r>
            <a:endParaRPr lang="en-US" sz="900" dirty="0"/>
          </a:p>
        </p:txBody>
      </p:sp>
      <p:sp>
        <p:nvSpPr>
          <p:cNvPr id="5" name="Text 3"/>
          <p:cNvSpPr txBox="1"/>
          <p:nvPr/>
        </p:nvSpPr>
        <p:spPr>
          <a:xfrm>
            <a:off x="736600" y="2159000"/>
            <a:ext cx="8092440" cy="1981200"/>
          </a:xfrm>
          <a:prstGeom prst="rect">
            <a:avLst/>
          </a:prstGeom>
          <a:noFill/>
          <a:ln/>
        </p:spPr>
        <p:txBody>
          <a:bodyPr wrap="square" lIns="0" tIns="0" rIns="0" bIns="0" rtlCol="0" anchor="t"/>
          <a:lstStyle/>
          <a:p>
            <a:pPr algn="l" indent="0" marL="0">
              <a:lnSpc>
                <a:spcPts val="7000"/>
              </a:lnSpc>
              <a:buNone/>
            </a:pPr>
            <a:r>
              <a:rPr lang="en-US" sz="7200" spc="-130" kern="0" dirty="0">
                <a:solidFill>
                  <a:srgbClr val="F4F4F5"/>
                </a:solidFill>
                <a:latin typeface="Instrument Serif" pitchFamily="34" charset="0"/>
                <a:ea typeface="Instrument Serif" pitchFamily="34" charset="-122"/>
                <a:cs typeface="Instrument Serif" pitchFamily="34" charset="-120"/>
              </a:rPr>
              <a:t>The front desk that</a:t>
            </a:r>
            <a:br/>
            <a:pPr algn="l" indent="0" marL="0">
              <a:lnSpc>
                <a:spcPts val="7000"/>
              </a:lnSpc>
              <a:buNone/>
            </a:pPr>
            <a:r>
              <a:rPr lang="en-US" sz="7200" i="1" spc="-130" kern="0" dirty="0">
                <a:solidFill>
                  <a:srgbClr val="FF7A30"/>
                </a:solidFill>
                <a:latin typeface="Instrument Serif" pitchFamily="34" charset="0"/>
                <a:ea typeface="Instrument Serif" pitchFamily="34" charset="-122"/>
                <a:cs typeface="Instrument Serif" pitchFamily="34" charset="-120"/>
              </a:rPr>
              <a:t>never misses</a:t>
            </a:r>
            <a:pPr algn="l" indent="0" marL="0">
              <a:lnSpc>
                <a:spcPts val="7000"/>
              </a:lnSpc>
              <a:buNone/>
            </a:pPr>
            <a:r>
              <a:rPr lang="en-US" sz="7200" spc="-130" kern="0" dirty="0">
                <a:solidFill>
                  <a:srgbClr val="F4F4F5"/>
                </a:solidFill>
                <a:latin typeface="Instrument Serif" pitchFamily="34" charset="0"/>
                <a:ea typeface="Instrument Serif" pitchFamily="34" charset="-122"/>
                <a:cs typeface="Instrument Serif" pitchFamily="34" charset="-120"/>
              </a:rPr>
              <a:t> a customer.</a:t>
            </a:r>
            <a:endParaRPr lang="en-US" sz="7200" dirty="0"/>
          </a:p>
        </p:txBody>
      </p:sp>
      <p:sp>
        <p:nvSpPr>
          <p:cNvPr id="6" name="Text 4"/>
          <p:cNvSpPr txBox="1"/>
          <p:nvPr/>
        </p:nvSpPr>
        <p:spPr>
          <a:xfrm>
            <a:off x="762000" y="4254500"/>
            <a:ext cx="6172200" cy="695960"/>
          </a:xfrm>
          <a:prstGeom prst="rect">
            <a:avLst/>
          </a:prstGeom>
          <a:noFill/>
          <a:ln/>
        </p:spPr>
        <p:txBody>
          <a:bodyPr wrap="square" lIns="0" tIns="0" rIns="0" bIns="0" rtlCol="0" anchor="t"/>
          <a:lstStyle/>
          <a:p>
            <a:pPr algn="l" indent="0" marL="0">
              <a:lnSpc>
                <a:spcPts val="2400"/>
              </a:lnSpc>
              <a:buNone/>
            </a:pPr>
            <a:r>
              <a:rPr lang="en-US" sz="1700" dirty="0">
                <a:solidFill>
                  <a:srgbClr val="A1A1AA"/>
                </a:solidFill>
                <a:latin typeface="Geist" pitchFamily="34" charset="0"/>
                <a:ea typeface="Geist" pitchFamily="34" charset="-122"/>
                <a:cs typeface="Geist" pitchFamily="34" charset="-120"/>
              </a:rPr>
              <a:t>AI customer operations for voice and chat,</a:t>
            </a:r>
            <a:br/>
            <a:pPr algn="l" indent="0" marL="0">
              <a:lnSpc>
                <a:spcPts val="2400"/>
              </a:lnSpc>
              <a:buNone/>
            </a:pPr>
            <a:r>
              <a:rPr lang="en-US" sz="1700" dirty="0">
                <a:solidFill>
                  <a:srgbClr val="A1A1AA"/>
                </a:solidFill>
                <a:latin typeface="Geist" pitchFamily="34" charset="0"/>
                <a:ea typeface="Geist" pitchFamily="34" charset="-122"/>
                <a:cs typeface="Geist" pitchFamily="34" charset="-120"/>
              </a:rPr>
              <a:t>in English, Hindi and Hinglish.</a:t>
            </a:r>
            <a:endParaRPr lang="en-US" sz="1700" dirty="0"/>
          </a:p>
        </p:txBody>
      </p:sp>
      <p:sp>
        <p:nvSpPr>
          <p:cNvPr id="7" name="Text 5"/>
          <p:cNvSpPr txBox="1"/>
          <p:nvPr/>
        </p:nvSpPr>
        <p:spPr>
          <a:xfrm>
            <a:off x="762000" y="6121400"/>
            <a:ext cx="5629346" cy="193040"/>
          </a:xfrm>
          <a:prstGeom prst="rect">
            <a:avLst/>
          </a:prstGeom>
          <a:noFill/>
          <a:ln/>
        </p:spPr>
        <p:txBody>
          <a:bodyPr wrap="square" lIns="0" tIns="0" rIns="0" bIns="0" rtlCol="0" anchor="t"/>
          <a:lstStyle/>
          <a:p>
            <a:pPr algn="l" indent="0" marL="0">
              <a:lnSpc>
                <a:spcPts val="1200"/>
              </a:lnSpc>
              <a:buNone/>
            </a:pPr>
            <a:r>
              <a:rPr lang="en-US" sz="900" spc="144" kern="0" dirty="0">
                <a:solidFill>
                  <a:srgbClr val="A1A1AA"/>
                </a:solidFill>
                <a:latin typeface="Geist Mono" pitchFamily="34" charset="0"/>
                <a:ea typeface="Geist Mono" pitchFamily="34" charset="-122"/>
                <a:cs typeface="Geist Mono" pitchFamily="34" charset="-120"/>
              </a:rPr>
              <a:t>CODE E FIESTA 2026 </a:t>
            </a:r>
            <a:pPr algn="l" indent="0" marL="0">
              <a:lnSpc>
                <a:spcPts val="1200"/>
              </a:lnSpc>
              <a:buNone/>
            </a:pPr>
            <a:r>
              <a:rPr lang="en-US" sz="900" spc="144" kern="0" dirty="0">
                <a:solidFill>
                  <a:srgbClr val="FF7A30"/>
                </a:solidFill>
                <a:latin typeface="Geist Mono" pitchFamily="34" charset="0"/>
                <a:ea typeface="Geist Mono" pitchFamily="34" charset="-122"/>
                <a:cs typeface="Geist Mono" pitchFamily="34" charset="-120"/>
              </a:rPr>
              <a:t>·</a:t>
            </a:r>
            <a:pPr algn="l" indent="0" marL="0">
              <a:lnSpc>
                <a:spcPts val="1200"/>
              </a:lnSpc>
              <a:buNone/>
            </a:pPr>
            <a:r>
              <a:rPr lang="en-US" sz="900" spc="144" kern="0" dirty="0">
                <a:solidFill>
                  <a:srgbClr val="A1A1AA"/>
                </a:solidFill>
                <a:latin typeface="Geist Mono" pitchFamily="34" charset="0"/>
                <a:ea typeface="Geist Mono" pitchFamily="34" charset="-122"/>
                <a:cs typeface="Geist Mono" pitchFamily="34" charset="-120"/>
              </a:rPr>
              <a:t> PROBLEM STATEMENT 03 </a:t>
            </a:r>
            <a:pPr algn="l" indent="0" marL="0">
              <a:lnSpc>
                <a:spcPts val="1200"/>
              </a:lnSpc>
              <a:buNone/>
            </a:pPr>
            <a:r>
              <a:rPr lang="en-US" sz="900" spc="144" kern="0" dirty="0">
                <a:solidFill>
                  <a:srgbClr val="FF7A30"/>
                </a:solidFill>
                <a:latin typeface="Geist Mono" pitchFamily="34" charset="0"/>
                <a:ea typeface="Geist Mono" pitchFamily="34" charset="-122"/>
                <a:cs typeface="Geist Mono" pitchFamily="34" charset="-120"/>
              </a:rPr>
              <a:t>·</a:t>
            </a:r>
            <a:pPr algn="l" indent="0" marL="0">
              <a:lnSpc>
                <a:spcPts val="1200"/>
              </a:lnSpc>
              <a:buNone/>
            </a:pPr>
            <a:r>
              <a:rPr lang="en-US" sz="900" spc="144" kern="0" dirty="0">
                <a:solidFill>
                  <a:srgbClr val="A1A1AA"/>
                </a:solidFill>
                <a:latin typeface="Geist Mono" pitchFamily="34" charset="0"/>
                <a:ea typeface="Geist Mono" pitchFamily="34" charset="-122"/>
                <a:cs typeface="Geist Mono" pitchFamily="34" charset="-120"/>
              </a:rPr>
              <a:t> </a:t>
            </a:r>
            <a:pPr algn="l" indent="0" marL="0">
              <a:lnSpc>
                <a:spcPts val="1200"/>
              </a:lnSpc>
              <a:buNone/>
            </a:pPr>
            <a:r>
              <a:rPr lang="en-US" sz="900" spc="144" kern="0" dirty="0">
                <a:solidFill>
                  <a:srgbClr val="F4F4F5"/>
                </a:solidFill>
                <a:latin typeface="Geist Mono" pitchFamily="34" charset="0"/>
                <a:ea typeface="Geist Mono" pitchFamily="34" charset="-122"/>
                <a:cs typeface="Geist Mono" pitchFamily="34" charset="-120"/>
              </a:rPr>
              <a:t>TEAM MITOCONDRIA</a:t>
            </a:r>
            <a:endParaRPr lang="en-US" sz="900" dirty="0"/>
          </a:p>
        </p:txBody>
      </p:sp>
      <p:sp>
        <p:nvSpPr>
          <p:cNvPr id="8" name="Text 6"/>
          <p:cNvSpPr txBox="1"/>
          <p:nvPr/>
        </p:nvSpPr>
        <p:spPr>
          <a:xfrm>
            <a:off x="6629400" y="6121400"/>
            <a:ext cx="4800600" cy="193040"/>
          </a:xfrm>
          <a:prstGeom prst="rect">
            <a:avLst/>
          </a:prstGeom>
          <a:noFill/>
          <a:ln/>
        </p:spPr>
        <p:txBody>
          <a:bodyPr wrap="square" lIns="0" tIns="0" rIns="0" bIns="0" rtlCol="0" anchor="t"/>
          <a:lstStyle/>
          <a:p>
            <a:pPr algn="r" indent="0" marL="0">
              <a:lnSpc>
                <a:spcPts val="1200"/>
              </a:lnSpc>
              <a:buNone/>
            </a:pPr>
            <a:r>
              <a:rPr lang="en-US" sz="900" spc="144" kern="0" dirty="0">
                <a:solidFill>
                  <a:srgbClr val="8A8A93"/>
                </a:solidFill>
                <a:latin typeface="Geist Mono" pitchFamily="34" charset="0"/>
                <a:ea typeface="Geist Mono" pitchFamily="34" charset="-122"/>
                <a:cs typeface="Geist Mono" pitchFamily="34" charset="-120"/>
              </a:rPr>
              <a:t>MEDICAPS UNIVERSITY WITH SLOWBROS LABS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Slide artwork" descr="The problem slide artwork">    </p:cNvPr>
          <p:cNvPicPr>
            <a:picLocks noChangeAspect="1"/>
          </p:cNvPicPr>
          <p:nvPr/>
        </p:nvPicPr>
        <p:blipFill>
          <a:blip r:embed="rId1"/>
          <a:stretch>
            <a:fillRect/>
          </a:stretch>
        </p:blipFill>
        <p:spPr>
          <a:xfrm>
            <a:off x="0" y="0"/>
            <a:ext cx="12191695" cy="6858000"/>
          </a:xfrm>
          <a:prstGeom prst="rect">
            <a:avLst/>
          </a:prstGeom>
        </p:spPr>
      </p:pic>
      <p:sp>
        <p:nvSpPr>
          <p:cNvPr id="3" name="Text 1"/>
          <p:cNvSpPr txBox="1"/>
          <p:nvPr/>
        </p:nvSpPr>
        <p:spPr>
          <a:xfrm>
            <a:off x="1066800" y="457200"/>
            <a:ext cx="601464" cy="304800"/>
          </a:xfrm>
          <a:prstGeom prst="rect">
            <a:avLst/>
          </a:prstGeom>
          <a:noFill/>
          <a:ln/>
        </p:spPr>
        <p:txBody>
          <a:bodyPr wrap="square" lIns="0" tIns="0" rIns="0" bIns="0" rtlCol="0" anchor="t"/>
          <a:lstStyle/>
          <a:p>
            <a:pPr algn="l" indent="0" marL="0">
              <a:lnSpc>
                <a:spcPts val="2000"/>
              </a:lnSpc>
              <a:buNone/>
            </a:pPr>
            <a:r>
              <a:rPr lang="en-US" sz="1800" dirty="0">
                <a:solidFill>
                  <a:srgbClr val="F4F4F5"/>
                </a:solidFill>
                <a:latin typeface="Instrument Serif" pitchFamily="34" charset="0"/>
                <a:ea typeface="Instrument Serif" pitchFamily="34" charset="-122"/>
                <a:cs typeface="Instrument Serif" pitchFamily="34" charset="-120"/>
              </a:rPr>
              <a:t>Suryo</a:t>
            </a:r>
            <a:endParaRPr lang="en-US" sz="1800" dirty="0"/>
          </a:p>
        </p:txBody>
      </p:sp>
      <p:sp>
        <p:nvSpPr>
          <p:cNvPr id="4" name="Text 2"/>
          <p:cNvSpPr txBox="1"/>
          <p:nvPr/>
        </p:nvSpPr>
        <p:spPr>
          <a:xfrm>
            <a:off x="9887645" y="520700"/>
            <a:ext cx="1542355" cy="193040"/>
          </a:xfrm>
          <a:prstGeom prst="rect">
            <a:avLst/>
          </a:prstGeom>
          <a:noFill/>
          <a:ln/>
        </p:spPr>
        <p:txBody>
          <a:bodyPr wrap="square" lIns="0" tIns="0" rIns="0" bIns="0" rtlCol="0" anchor="t"/>
          <a:lstStyle/>
          <a:p>
            <a:pPr algn="r" indent="0" marL="0">
              <a:lnSpc>
                <a:spcPts val="1200"/>
              </a:lnSpc>
              <a:buNone/>
            </a:pPr>
            <a:r>
              <a:rPr lang="en-US" sz="900" spc="144" kern="0" dirty="0">
                <a:solidFill>
                  <a:srgbClr val="8A8A93"/>
                </a:solidFill>
                <a:latin typeface="Geist Mono" pitchFamily="34" charset="0"/>
                <a:ea typeface="Geist Mono" pitchFamily="34" charset="-122"/>
                <a:cs typeface="Geist Mono" pitchFamily="34" charset="-120"/>
              </a:rPr>
              <a:t>01 · THE PROBLEM</a:t>
            </a:r>
            <a:endParaRPr lang="en-US" sz="900" dirty="0"/>
          </a:p>
        </p:txBody>
      </p:sp>
      <p:sp>
        <p:nvSpPr>
          <p:cNvPr id="5" name="Text 3"/>
          <p:cNvSpPr txBox="1"/>
          <p:nvPr/>
        </p:nvSpPr>
        <p:spPr>
          <a:xfrm>
            <a:off x="762000" y="1244600"/>
            <a:ext cx="7132320" cy="1953260"/>
          </a:xfrm>
          <a:prstGeom prst="rect">
            <a:avLst/>
          </a:prstGeom>
          <a:noFill/>
          <a:ln/>
        </p:spPr>
        <p:txBody>
          <a:bodyPr wrap="square" lIns="0" tIns="0" rIns="0" bIns="0" rtlCol="0" anchor="t"/>
          <a:lstStyle/>
          <a:p>
            <a:pPr algn="l" indent="0" marL="0">
              <a:lnSpc>
                <a:spcPts val="4600"/>
              </a:lnSpc>
              <a:buNone/>
            </a:pPr>
            <a:r>
              <a:rPr lang="en-US" sz="4400" spc="-53" kern="0" dirty="0">
                <a:solidFill>
                  <a:srgbClr val="F4F4F5"/>
                </a:solidFill>
                <a:latin typeface="Instrument Serif" pitchFamily="34" charset="0"/>
                <a:ea typeface="Instrument Serif" pitchFamily="34" charset="-122"/>
                <a:cs typeface="Instrument Serif" pitchFamily="34" charset="-120"/>
              </a:rPr>
              <a:t>The phone rings out.</a:t>
            </a:r>
            <a:br/>
            <a:pPr algn="l" indent="0" marL="0">
              <a:lnSpc>
                <a:spcPts val="4600"/>
              </a:lnSpc>
              <a:buNone/>
            </a:pPr>
            <a:r>
              <a:rPr lang="en-US" sz="4400" spc="-53" kern="0" dirty="0">
                <a:solidFill>
                  <a:srgbClr val="F4F4F5"/>
                </a:solidFill>
                <a:latin typeface="Instrument Serif" pitchFamily="34" charset="0"/>
                <a:ea typeface="Instrument Serif" pitchFamily="34" charset="-122"/>
                <a:cs typeface="Instrument Serif" pitchFamily="34" charset="-120"/>
              </a:rPr>
              <a:t>The request sits.</a:t>
            </a:r>
            <a:br/>
            <a:pPr algn="l" indent="0" marL="0">
              <a:lnSpc>
                <a:spcPts val="4600"/>
              </a:lnSpc>
              <a:buNone/>
            </a:pPr>
            <a:r>
              <a:rPr lang="en-US" sz="4400" spc="-53" kern="0" dirty="0">
                <a:solidFill>
                  <a:srgbClr val="F4F4F5"/>
                </a:solidFill>
                <a:latin typeface="Instrument Serif" pitchFamily="34" charset="0"/>
                <a:ea typeface="Instrument Serif" pitchFamily="34" charset="-122"/>
                <a:cs typeface="Instrument Serif" pitchFamily="34" charset="-120"/>
              </a:rPr>
              <a:t>The follow up </a:t>
            </a:r>
            <a:pPr algn="l" indent="0" marL="0">
              <a:lnSpc>
                <a:spcPts val="4600"/>
              </a:lnSpc>
              <a:buNone/>
            </a:pPr>
            <a:r>
              <a:rPr lang="en-US" sz="4400" i="1" spc="-53" kern="0" dirty="0">
                <a:solidFill>
                  <a:srgbClr val="F2545B"/>
                </a:solidFill>
                <a:latin typeface="Instrument Serif" pitchFamily="34" charset="0"/>
                <a:ea typeface="Instrument Serif" pitchFamily="34" charset="-122"/>
                <a:cs typeface="Instrument Serif" pitchFamily="34" charset="-120"/>
              </a:rPr>
              <a:t>never happens.</a:t>
            </a:r>
            <a:endParaRPr lang="en-US" sz="4400" dirty="0"/>
          </a:p>
        </p:txBody>
      </p:sp>
      <p:sp>
        <p:nvSpPr>
          <p:cNvPr id="6" name="Text 4"/>
          <p:cNvSpPr txBox="1"/>
          <p:nvPr/>
        </p:nvSpPr>
        <p:spPr>
          <a:xfrm>
            <a:off x="698500" y="3175000"/>
            <a:ext cx="2691122" cy="2120900"/>
          </a:xfrm>
          <a:prstGeom prst="rect">
            <a:avLst/>
          </a:prstGeom>
          <a:noFill/>
          <a:ln/>
        </p:spPr>
        <p:txBody>
          <a:bodyPr wrap="square" lIns="0" tIns="0" rIns="0" bIns="0" rtlCol="0" anchor="t"/>
          <a:lstStyle/>
          <a:p>
            <a:pPr algn="l" indent="0" marL="0">
              <a:lnSpc>
                <a:spcPts val="15000"/>
              </a:lnSpc>
              <a:buNone/>
            </a:pPr>
            <a:r>
              <a:rPr lang="en-US" sz="15000" spc="-450" kern="0" dirty="0">
                <a:solidFill>
                  <a:srgbClr val="F2545B"/>
                </a:solidFill>
                <a:latin typeface="Instrument Serif" pitchFamily="34" charset="0"/>
                <a:ea typeface="Instrument Serif" pitchFamily="34" charset="-122"/>
                <a:cs typeface="Instrument Serif" pitchFamily="34" charset="-120"/>
              </a:rPr>
              <a:t>62%</a:t>
            </a:r>
            <a:endParaRPr lang="en-US" sz="15000" dirty="0"/>
          </a:p>
        </p:txBody>
      </p:sp>
      <p:sp>
        <p:nvSpPr>
          <p:cNvPr id="7" name="Text 5"/>
          <p:cNvSpPr txBox="1"/>
          <p:nvPr/>
        </p:nvSpPr>
        <p:spPr>
          <a:xfrm>
            <a:off x="762000" y="5130800"/>
            <a:ext cx="6172200" cy="346710"/>
          </a:xfrm>
          <a:prstGeom prst="rect">
            <a:avLst/>
          </a:prstGeom>
          <a:noFill/>
          <a:ln/>
        </p:spPr>
        <p:txBody>
          <a:bodyPr wrap="square" lIns="0" tIns="0" rIns="0" bIns="0" rtlCol="0" anchor="t"/>
          <a:lstStyle/>
          <a:p>
            <a:pPr algn="l" indent="0" marL="0">
              <a:lnSpc>
                <a:spcPts val="2300"/>
              </a:lnSpc>
              <a:buNone/>
            </a:pPr>
            <a:r>
              <a:rPr lang="en-US" sz="1700" dirty="0">
                <a:solidFill>
                  <a:srgbClr val="F4F4F5"/>
                </a:solidFill>
                <a:latin typeface="Geist" pitchFamily="34" charset="0"/>
                <a:ea typeface="Geist" pitchFamily="34" charset="-122"/>
                <a:cs typeface="Geist" pitchFamily="34" charset="-120"/>
              </a:rPr>
              <a:t>of calls to small businesses went unanswered.</a:t>
            </a:r>
            <a:endParaRPr lang="en-US" sz="1700" dirty="0"/>
          </a:p>
        </p:txBody>
      </p:sp>
      <p:sp>
        <p:nvSpPr>
          <p:cNvPr id="8" name="Text 6"/>
          <p:cNvSpPr txBox="1"/>
          <p:nvPr/>
        </p:nvSpPr>
        <p:spPr>
          <a:xfrm>
            <a:off x="762000" y="5537200"/>
            <a:ext cx="6172200" cy="220980"/>
          </a:xfrm>
          <a:prstGeom prst="rect">
            <a:avLst/>
          </a:prstGeom>
          <a:noFill/>
          <a:ln/>
        </p:spPr>
        <p:txBody>
          <a:bodyPr wrap="square" lIns="0" tIns="0" rIns="0" bIns="0" rtlCol="0" anchor="t"/>
          <a:lstStyle/>
          <a:p>
            <a:pPr algn="l" indent="0" marL="0">
              <a:lnSpc>
                <a:spcPts val="1400"/>
              </a:lnSpc>
              <a:buNone/>
            </a:pPr>
            <a:r>
              <a:rPr lang="en-US" sz="1000" dirty="0">
                <a:solidFill>
                  <a:srgbClr val="8A8A93"/>
                </a:solidFill>
                <a:latin typeface="Geist" pitchFamily="34" charset="0"/>
                <a:ea typeface="Geist" pitchFamily="34" charset="-122"/>
                <a:cs typeface="Geist" pitchFamily="34" charset="-120"/>
              </a:rPr>
              <a:t>411 Locals study, 85 small businesses over 30 days. Small sample; directional.</a:t>
            </a:r>
            <a:endParaRPr lang="en-US" sz="1000" dirty="0"/>
          </a:p>
        </p:txBody>
      </p:sp>
      <p:sp>
        <p:nvSpPr>
          <p:cNvPr id="9" name="Text 7"/>
          <p:cNvSpPr txBox="1"/>
          <p:nvPr/>
        </p:nvSpPr>
        <p:spPr>
          <a:xfrm>
            <a:off x="7874000" y="1790700"/>
            <a:ext cx="1455440" cy="193040"/>
          </a:xfrm>
          <a:prstGeom prst="rect">
            <a:avLst/>
          </a:prstGeom>
          <a:noFill/>
          <a:ln/>
        </p:spPr>
        <p:txBody>
          <a:bodyPr wrap="square" lIns="0" tIns="0" rIns="0" bIns="0" rtlCol="0" anchor="t"/>
          <a:lstStyle/>
          <a:p>
            <a:pPr algn="l" indent="0" marL="0">
              <a:lnSpc>
                <a:spcPts val="1200"/>
              </a:lnSpc>
              <a:buNone/>
            </a:pPr>
            <a:r>
              <a:rPr lang="en-US" sz="900" spc="144" kern="0" dirty="0">
                <a:solidFill>
                  <a:srgbClr val="8A8A93"/>
                </a:solidFill>
                <a:latin typeface="Geist Mono" pitchFamily="34" charset="0"/>
                <a:ea typeface="Geist Mono" pitchFamily="34" charset="-122"/>
                <a:cs typeface="Geist Mono" pitchFamily="34" charset="-120"/>
              </a:rPr>
              <a:t>EVERY 100 CALLS</a:t>
            </a:r>
            <a:endParaRPr lang="en-US" sz="900" dirty="0"/>
          </a:p>
        </p:txBody>
      </p:sp>
      <p:sp>
        <p:nvSpPr>
          <p:cNvPr id="10" name="Text 8"/>
          <p:cNvSpPr txBox="1"/>
          <p:nvPr/>
        </p:nvSpPr>
        <p:spPr>
          <a:xfrm>
            <a:off x="8039100" y="5613400"/>
            <a:ext cx="1225054" cy="262890"/>
          </a:xfrm>
          <a:prstGeom prst="rect">
            <a:avLst/>
          </a:prstGeom>
          <a:noFill/>
          <a:ln/>
        </p:spPr>
        <p:txBody>
          <a:bodyPr wrap="square" lIns="0" tIns="0" rIns="0" bIns="0" rtlCol="0" anchor="t"/>
          <a:lstStyle/>
          <a:p>
            <a:pPr algn="l" indent="0" marL="0">
              <a:lnSpc>
                <a:spcPts val="1700"/>
              </a:lnSpc>
              <a:buNone/>
            </a:pPr>
            <a:r>
              <a:rPr lang="en-US" sz="1200" dirty="0">
                <a:solidFill>
                  <a:srgbClr val="F4F4F5"/>
                </a:solidFill>
                <a:latin typeface="Geist" pitchFamily="34" charset="0"/>
                <a:ea typeface="Geist" pitchFamily="34" charset="-122"/>
                <a:cs typeface="Geist" pitchFamily="34" charset="-120"/>
              </a:rPr>
              <a:t>62 unanswered</a:t>
            </a:r>
            <a:endParaRPr lang="en-US" sz="1200" dirty="0"/>
          </a:p>
        </p:txBody>
      </p:sp>
      <p:sp>
        <p:nvSpPr>
          <p:cNvPr id="11" name="Text 9"/>
          <p:cNvSpPr txBox="1"/>
          <p:nvPr/>
        </p:nvSpPr>
        <p:spPr>
          <a:xfrm>
            <a:off x="9530854" y="5613400"/>
            <a:ext cx="1052711" cy="262890"/>
          </a:xfrm>
          <a:prstGeom prst="rect">
            <a:avLst/>
          </a:prstGeom>
          <a:noFill/>
          <a:ln/>
        </p:spPr>
        <p:txBody>
          <a:bodyPr wrap="square" lIns="0" tIns="0" rIns="0" bIns="0" rtlCol="0" anchor="t"/>
          <a:lstStyle/>
          <a:p>
            <a:pPr algn="l" indent="0" marL="0">
              <a:lnSpc>
                <a:spcPts val="1700"/>
              </a:lnSpc>
              <a:buNone/>
            </a:pPr>
            <a:r>
              <a:rPr lang="en-US" sz="1200" dirty="0">
                <a:solidFill>
                  <a:srgbClr val="A1A1AA"/>
                </a:solidFill>
                <a:latin typeface="Geist" pitchFamily="34" charset="0"/>
                <a:ea typeface="Geist" pitchFamily="34" charset="-122"/>
                <a:cs typeface="Geist" pitchFamily="34" charset="-120"/>
              </a:rPr>
              <a:t>38 answered</a:t>
            </a:r>
            <a:endParaRPr lang="en-US" sz="1200" dirty="0"/>
          </a:p>
        </p:txBody>
      </p:sp>
      <p:sp>
        <p:nvSpPr>
          <p:cNvPr id="12" name="Text 10"/>
          <p:cNvSpPr txBox="1"/>
          <p:nvPr/>
        </p:nvSpPr>
        <p:spPr>
          <a:xfrm>
            <a:off x="10701437" y="6299200"/>
            <a:ext cx="728563" cy="193040"/>
          </a:xfrm>
          <a:prstGeom prst="rect">
            <a:avLst/>
          </a:prstGeom>
          <a:noFill/>
          <a:ln/>
        </p:spPr>
        <p:txBody>
          <a:bodyPr wrap="square" lIns="0" tIns="0" rIns="0" bIns="0" rtlCol="0" anchor="t"/>
          <a:lstStyle/>
          <a:p>
            <a:pPr algn="r" indent="0" marL="0">
              <a:lnSpc>
                <a:spcPts val="1200"/>
              </a:lnSpc>
              <a:buNone/>
            </a:pPr>
            <a:r>
              <a:rPr lang="en-US" sz="900" spc="108" kern="0" dirty="0">
                <a:solidFill>
                  <a:srgbClr val="52525B"/>
                </a:solidFill>
                <a:latin typeface="Geist Mono" pitchFamily="34" charset="0"/>
                <a:ea typeface="Geist Mono" pitchFamily="34" charset="-122"/>
                <a:cs typeface="Geist Mono" pitchFamily="34" charset="-120"/>
              </a:rPr>
              <a:t>02 / 11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Slide artwork" descr="Why bots fail slide artwork">    </p:cNvPr>
          <p:cNvPicPr>
            <a:picLocks noChangeAspect="1"/>
          </p:cNvPicPr>
          <p:nvPr/>
        </p:nvPicPr>
        <p:blipFill>
          <a:blip r:embed="rId1"/>
          <a:stretch>
            <a:fillRect/>
          </a:stretch>
        </p:blipFill>
        <p:spPr>
          <a:xfrm>
            <a:off x="0" y="0"/>
            <a:ext cx="12191695" cy="6858000"/>
          </a:xfrm>
          <a:prstGeom prst="rect">
            <a:avLst/>
          </a:prstGeom>
        </p:spPr>
      </p:pic>
      <p:sp>
        <p:nvSpPr>
          <p:cNvPr id="3" name="Text 1"/>
          <p:cNvSpPr txBox="1"/>
          <p:nvPr/>
        </p:nvSpPr>
        <p:spPr>
          <a:xfrm>
            <a:off x="1066800" y="457200"/>
            <a:ext cx="601464" cy="304800"/>
          </a:xfrm>
          <a:prstGeom prst="rect">
            <a:avLst/>
          </a:prstGeom>
          <a:noFill/>
          <a:ln/>
        </p:spPr>
        <p:txBody>
          <a:bodyPr wrap="square" lIns="0" tIns="0" rIns="0" bIns="0" rtlCol="0" anchor="t"/>
          <a:lstStyle/>
          <a:p>
            <a:pPr algn="l" indent="0" marL="0">
              <a:lnSpc>
                <a:spcPts val="2000"/>
              </a:lnSpc>
              <a:buNone/>
            </a:pPr>
            <a:r>
              <a:rPr lang="en-US" sz="1800" dirty="0">
                <a:solidFill>
                  <a:srgbClr val="F4F4F5"/>
                </a:solidFill>
                <a:latin typeface="Instrument Serif" pitchFamily="34" charset="0"/>
                <a:ea typeface="Instrument Serif" pitchFamily="34" charset="-122"/>
                <a:cs typeface="Instrument Serif" pitchFamily="34" charset="-120"/>
              </a:rPr>
              <a:t>Suryo</a:t>
            </a:r>
            <a:endParaRPr lang="en-US" sz="1800" dirty="0"/>
          </a:p>
        </p:txBody>
      </p:sp>
      <p:sp>
        <p:nvSpPr>
          <p:cNvPr id="4" name="Text 2"/>
          <p:cNvSpPr txBox="1"/>
          <p:nvPr/>
        </p:nvSpPr>
        <p:spPr>
          <a:xfrm>
            <a:off x="9713912" y="520700"/>
            <a:ext cx="1716087" cy="193040"/>
          </a:xfrm>
          <a:prstGeom prst="rect">
            <a:avLst/>
          </a:prstGeom>
          <a:noFill/>
          <a:ln/>
        </p:spPr>
        <p:txBody>
          <a:bodyPr wrap="square" lIns="0" tIns="0" rIns="0" bIns="0" rtlCol="0" anchor="t"/>
          <a:lstStyle/>
          <a:p>
            <a:pPr algn="r" indent="0" marL="0">
              <a:lnSpc>
                <a:spcPts val="1200"/>
              </a:lnSpc>
              <a:buNone/>
            </a:pPr>
            <a:r>
              <a:rPr lang="en-US" sz="900" spc="144" kern="0" dirty="0">
                <a:solidFill>
                  <a:srgbClr val="8A8A93"/>
                </a:solidFill>
                <a:latin typeface="Geist Mono" pitchFamily="34" charset="0"/>
                <a:ea typeface="Geist Mono" pitchFamily="34" charset="-122"/>
                <a:cs typeface="Geist Mono" pitchFamily="34" charset="-120"/>
              </a:rPr>
              <a:t>02 · WHY BOTS FAIL</a:t>
            </a:r>
            <a:endParaRPr lang="en-US" sz="900" dirty="0"/>
          </a:p>
        </p:txBody>
      </p:sp>
      <p:sp>
        <p:nvSpPr>
          <p:cNvPr id="5" name="Text 3"/>
          <p:cNvSpPr txBox="1"/>
          <p:nvPr/>
        </p:nvSpPr>
        <p:spPr>
          <a:xfrm>
            <a:off x="762000" y="1244600"/>
            <a:ext cx="10287000" cy="1310640"/>
          </a:xfrm>
          <a:prstGeom prst="rect">
            <a:avLst/>
          </a:prstGeom>
          <a:noFill/>
          <a:ln/>
        </p:spPr>
        <p:txBody>
          <a:bodyPr wrap="square" lIns="0" tIns="0" rIns="0" bIns="0" rtlCol="0" anchor="t"/>
          <a:lstStyle/>
          <a:p>
            <a:pPr algn="l" indent="0" marL="0">
              <a:lnSpc>
                <a:spcPts val="4600"/>
              </a:lnSpc>
              <a:buNone/>
            </a:pPr>
            <a:r>
              <a:rPr lang="en-US" sz="4400" spc="-53" kern="0" dirty="0">
                <a:solidFill>
                  <a:srgbClr val="F4F4F5"/>
                </a:solidFill>
                <a:latin typeface="Instrument Serif" pitchFamily="34" charset="0"/>
                <a:ea typeface="Instrument Serif" pitchFamily="34" charset="-122"/>
                <a:cs typeface="Instrument Serif" pitchFamily="34" charset="-120"/>
              </a:rPr>
              <a:t>Demos are easy.</a:t>
            </a:r>
            <a:br/>
            <a:pPr algn="l" indent="0" marL="0">
              <a:lnSpc>
                <a:spcPts val="4600"/>
              </a:lnSpc>
              <a:buNone/>
            </a:pPr>
            <a:r>
              <a:rPr lang="en-US" sz="4400" spc="-53" kern="0" dirty="0">
                <a:solidFill>
                  <a:srgbClr val="F4F4F5"/>
                </a:solidFill>
                <a:latin typeface="Instrument Serif" pitchFamily="34" charset="0"/>
                <a:ea typeface="Instrument Serif" pitchFamily="34" charset="-122"/>
                <a:cs typeface="Instrument Serif" pitchFamily="34" charset="-120"/>
              </a:rPr>
              <a:t>Production is where bots break.</a:t>
            </a:r>
            <a:endParaRPr lang="en-US" sz="4400" dirty="0"/>
          </a:p>
        </p:txBody>
      </p:sp>
      <p:sp>
        <p:nvSpPr>
          <p:cNvPr id="6" name="Text 4"/>
          <p:cNvSpPr txBox="1"/>
          <p:nvPr/>
        </p:nvSpPr>
        <p:spPr>
          <a:xfrm>
            <a:off x="10701437" y="6299200"/>
            <a:ext cx="728563" cy="193040"/>
          </a:xfrm>
          <a:prstGeom prst="rect">
            <a:avLst/>
          </a:prstGeom>
          <a:noFill/>
          <a:ln/>
        </p:spPr>
        <p:txBody>
          <a:bodyPr wrap="square" lIns="0" tIns="0" rIns="0" bIns="0" rtlCol="0" anchor="t"/>
          <a:lstStyle/>
          <a:p>
            <a:pPr algn="r" indent="0" marL="0">
              <a:lnSpc>
                <a:spcPts val="1200"/>
              </a:lnSpc>
              <a:buNone/>
            </a:pPr>
            <a:r>
              <a:rPr lang="en-US" sz="900" spc="108" kern="0" dirty="0">
                <a:solidFill>
                  <a:srgbClr val="52525B"/>
                </a:solidFill>
                <a:latin typeface="Geist Mono" pitchFamily="34" charset="0"/>
                <a:ea typeface="Geist Mono" pitchFamily="34" charset="-122"/>
                <a:cs typeface="Geist Mono" pitchFamily="34" charset="-120"/>
              </a:rPr>
              <a:t>03 / 11</a:t>
            </a:r>
            <a:endParaRPr lang="en-US" sz="900" dirty="0"/>
          </a:p>
        </p:txBody>
      </p:sp>
      <p:sp>
        <p:nvSpPr>
          <p:cNvPr id="7" name="Text 5"/>
          <p:cNvSpPr txBox="1"/>
          <p:nvPr/>
        </p:nvSpPr>
        <p:spPr>
          <a:xfrm>
            <a:off x="1016000" y="3009900"/>
            <a:ext cx="326231" cy="193040"/>
          </a:xfrm>
          <a:prstGeom prst="rect">
            <a:avLst/>
          </a:prstGeom>
          <a:noFill/>
          <a:ln/>
        </p:spPr>
        <p:txBody>
          <a:bodyPr wrap="square" lIns="0" tIns="0" rIns="0" bIns="0" rtlCol="0" anchor="t"/>
          <a:lstStyle/>
          <a:p>
            <a:pPr algn="l" indent="0" marL="0">
              <a:lnSpc>
                <a:spcPts val="1200"/>
              </a:lnSpc>
              <a:buNone/>
            </a:pPr>
            <a:r>
              <a:rPr lang="en-US" sz="900" spc="144" kern="0" dirty="0">
                <a:solidFill>
                  <a:srgbClr val="F2545B"/>
                </a:solidFill>
                <a:latin typeface="Geist Mono" pitchFamily="34" charset="0"/>
                <a:ea typeface="Geist Mono" pitchFamily="34" charset="-122"/>
                <a:cs typeface="Geist Mono" pitchFamily="34" charset="-120"/>
              </a:rPr>
              <a:t>01</a:t>
            </a:r>
            <a:endParaRPr lang="en-US" sz="900" dirty="0"/>
          </a:p>
        </p:txBody>
      </p:sp>
      <p:sp>
        <p:nvSpPr>
          <p:cNvPr id="8" name="Text 6"/>
          <p:cNvSpPr txBox="1"/>
          <p:nvPr/>
        </p:nvSpPr>
        <p:spPr>
          <a:xfrm>
            <a:off x="1016000" y="3213100"/>
            <a:ext cx="3140964" cy="416560"/>
          </a:xfrm>
          <a:prstGeom prst="rect">
            <a:avLst/>
          </a:prstGeom>
          <a:noFill/>
          <a:ln/>
        </p:spPr>
        <p:txBody>
          <a:bodyPr wrap="square" lIns="0" tIns="0" rIns="0" bIns="0" rtlCol="0" anchor="t"/>
          <a:lstStyle/>
          <a:p>
            <a:pPr algn="l" indent="0" marL="0">
              <a:lnSpc>
                <a:spcPts val="2800"/>
              </a:lnSpc>
              <a:buNone/>
            </a:pPr>
            <a:r>
              <a:rPr lang="en-US" sz="2500" spc="-25" kern="0" dirty="0">
                <a:solidFill>
                  <a:srgbClr val="F4F4F5"/>
                </a:solidFill>
                <a:latin typeface="Instrument Serif" pitchFamily="34" charset="0"/>
                <a:ea typeface="Instrument Serif" pitchFamily="34" charset="-122"/>
                <a:cs typeface="Instrument Serif" pitchFamily="34" charset="-120"/>
              </a:rPr>
              <a:t>Long pauses</a:t>
            </a:r>
            <a:endParaRPr lang="en-US" sz="2500" dirty="0"/>
          </a:p>
        </p:txBody>
      </p:sp>
      <p:sp>
        <p:nvSpPr>
          <p:cNvPr id="9" name="Text 7"/>
          <p:cNvSpPr txBox="1"/>
          <p:nvPr/>
        </p:nvSpPr>
        <p:spPr>
          <a:xfrm>
            <a:off x="1016000" y="3695700"/>
            <a:ext cx="3140964" cy="500380"/>
          </a:xfrm>
          <a:prstGeom prst="rect">
            <a:avLst/>
          </a:prstGeom>
          <a:noFill/>
          <a:ln/>
        </p:spPr>
        <p:txBody>
          <a:bodyPr wrap="square" lIns="0" tIns="0" rIns="0" bIns="0" rtlCol="0" anchor="t"/>
          <a:lstStyle/>
          <a:p>
            <a:pPr algn="l" indent="0" marL="0">
              <a:lnSpc>
                <a:spcPts val="1700"/>
              </a:lnSpc>
              <a:buNone/>
            </a:pPr>
            <a:r>
              <a:rPr lang="en-US" sz="1200" dirty="0">
                <a:solidFill>
                  <a:srgbClr val="FF7A30"/>
                </a:solidFill>
                <a:latin typeface="Geist" pitchFamily="34" charset="0"/>
                <a:ea typeface="Geist" pitchFamily="34" charset="-122"/>
                <a:cs typeface="Geist" pitchFamily="34" charset="-120"/>
              </a:rPr>
              <a:t>Suryo:</a:t>
            </a:r>
            <a:pPr algn="l" indent="0" marL="0">
              <a:lnSpc>
                <a:spcPts val="1700"/>
              </a:lnSpc>
              <a:buNone/>
            </a:pPr>
            <a:r>
              <a:rPr lang="en-US" sz="1200" dirty="0">
                <a:solidFill>
                  <a:srgbClr val="A1A1AA"/>
                </a:solidFill>
                <a:latin typeface="Geist" pitchFamily="34" charset="0"/>
                <a:ea typeface="Geist" pitchFamily="34" charset="-122"/>
                <a:cs typeface="Geist" pitchFamily="34" charset="-120"/>
              </a:rPr>
              <a:t> Native speech to speech. About</a:t>
            </a:r>
            <a:br/>
            <a:pPr algn="l" indent="0" marL="0">
              <a:lnSpc>
                <a:spcPts val="1700"/>
              </a:lnSpc>
              <a:buNone/>
            </a:pPr>
            <a:r>
              <a:rPr lang="en-US" sz="1200" dirty="0">
                <a:solidFill>
                  <a:srgbClr val="A1A1AA"/>
                </a:solidFill>
                <a:latin typeface="Geist" pitchFamily="34" charset="0"/>
                <a:ea typeface="Geist" pitchFamily="34" charset="-122"/>
                <a:cs typeface="Geist" pitchFamily="34" charset="-120"/>
              </a:rPr>
              <a:t>1.5 s to first audio, tool call included.</a:t>
            </a:r>
            <a:endParaRPr lang="en-US" sz="1200" dirty="0"/>
          </a:p>
        </p:txBody>
      </p:sp>
      <p:sp>
        <p:nvSpPr>
          <p:cNvPr id="10" name="Text 8"/>
          <p:cNvSpPr txBox="1"/>
          <p:nvPr/>
        </p:nvSpPr>
        <p:spPr>
          <a:xfrm>
            <a:off x="4641850" y="3009900"/>
            <a:ext cx="326231" cy="193040"/>
          </a:xfrm>
          <a:prstGeom prst="rect">
            <a:avLst/>
          </a:prstGeom>
          <a:noFill/>
          <a:ln/>
        </p:spPr>
        <p:txBody>
          <a:bodyPr wrap="square" lIns="0" tIns="0" rIns="0" bIns="0" rtlCol="0" anchor="t"/>
          <a:lstStyle/>
          <a:p>
            <a:pPr algn="l" indent="0" marL="0">
              <a:lnSpc>
                <a:spcPts val="1200"/>
              </a:lnSpc>
              <a:buNone/>
            </a:pPr>
            <a:r>
              <a:rPr lang="en-US" sz="900" spc="144" kern="0" dirty="0">
                <a:solidFill>
                  <a:srgbClr val="F2545B"/>
                </a:solidFill>
                <a:latin typeface="Geist Mono" pitchFamily="34" charset="0"/>
                <a:ea typeface="Geist Mono" pitchFamily="34" charset="-122"/>
                <a:cs typeface="Geist Mono" pitchFamily="34" charset="-120"/>
              </a:rPr>
              <a:t>02</a:t>
            </a:r>
            <a:endParaRPr lang="en-US" sz="900" dirty="0"/>
          </a:p>
        </p:txBody>
      </p:sp>
      <p:sp>
        <p:nvSpPr>
          <p:cNvPr id="11" name="Text 9"/>
          <p:cNvSpPr txBox="1"/>
          <p:nvPr/>
        </p:nvSpPr>
        <p:spPr>
          <a:xfrm>
            <a:off x="4641850" y="3213100"/>
            <a:ext cx="3140964" cy="416560"/>
          </a:xfrm>
          <a:prstGeom prst="rect">
            <a:avLst/>
          </a:prstGeom>
          <a:noFill/>
          <a:ln/>
        </p:spPr>
        <p:txBody>
          <a:bodyPr wrap="square" lIns="0" tIns="0" rIns="0" bIns="0" rtlCol="0" anchor="t"/>
          <a:lstStyle/>
          <a:p>
            <a:pPr algn="l" indent="0" marL="0">
              <a:lnSpc>
                <a:spcPts val="2800"/>
              </a:lnSpc>
              <a:buNone/>
            </a:pPr>
            <a:r>
              <a:rPr lang="en-US" sz="2500" spc="-25" kern="0" dirty="0">
                <a:solidFill>
                  <a:srgbClr val="F4F4F5"/>
                </a:solidFill>
                <a:latin typeface="Instrument Serif" pitchFamily="34" charset="0"/>
                <a:ea typeface="Instrument Serif" pitchFamily="34" charset="-122"/>
                <a:cs typeface="Instrument Serif" pitchFamily="34" charset="-120"/>
              </a:rPr>
              <a:t>Talking over callers</a:t>
            </a:r>
            <a:endParaRPr lang="en-US" sz="2500" dirty="0"/>
          </a:p>
        </p:txBody>
      </p:sp>
      <p:sp>
        <p:nvSpPr>
          <p:cNvPr id="12" name="Text 10"/>
          <p:cNvSpPr txBox="1"/>
          <p:nvPr/>
        </p:nvSpPr>
        <p:spPr>
          <a:xfrm>
            <a:off x="4641850" y="3695700"/>
            <a:ext cx="3140964" cy="500380"/>
          </a:xfrm>
          <a:prstGeom prst="rect">
            <a:avLst/>
          </a:prstGeom>
          <a:noFill/>
          <a:ln/>
        </p:spPr>
        <p:txBody>
          <a:bodyPr wrap="square" lIns="0" tIns="0" rIns="0" bIns="0" rtlCol="0" anchor="t"/>
          <a:lstStyle/>
          <a:p>
            <a:pPr algn="l" indent="0" marL="0">
              <a:lnSpc>
                <a:spcPts val="1700"/>
              </a:lnSpc>
              <a:buNone/>
            </a:pPr>
            <a:r>
              <a:rPr lang="en-US" sz="1200" dirty="0">
                <a:solidFill>
                  <a:srgbClr val="FF7A30"/>
                </a:solidFill>
                <a:latin typeface="Geist" pitchFamily="34" charset="0"/>
                <a:ea typeface="Geist" pitchFamily="34" charset="-122"/>
                <a:cs typeface="Geist" pitchFamily="34" charset="-120"/>
              </a:rPr>
              <a:t>Suryo:</a:t>
            </a:r>
            <a:pPr algn="l" indent="0" marL="0">
              <a:lnSpc>
                <a:spcPts val="1700"/>
              </a:lnSpc>
              <a:buNone/>
            </a:pPr>
            <a:r>
              <a:rPr lang="en-US" sz="1200" dirty="0">
                <a:solidFill>
                  <a:srgbClr val="A1A1AA"/>
                </a:solidFill>
                <a:latin typeface="Geist" pitchFamily="34" charset="0"/>
                <a:ea typeface="Geist" pitchFamily="34" charset="-122"/>
                <a:cs typeface="Geist" pitchFamily="34" charset="-120"/>
              </a:rPr>
              <a:t> True barge in. Her audio stops the</a:t>
            </a:r>
            <a:br/>
            <a:pPr algn="l" indent="0" marL="0">
              <a:lnSpc>
                <a:spcPts val="1700"/>
              </a:lnSpc>
              <a:buNone/>
            </a:pPr>
            <a:r>
              <a:rPr lang="en-US" sz="1200" dirty="0">
                <a:solidFill>
                  <a:srgbClr val="A1A1AA"/>
                </a:solidFill>
                <a:latin typeface="Geist" pitchFamily="34" charset="0"/>
                <a:ea typeface="Geist" pitchFamily="34" charset="-122"/>
                <a:cs typeface="Geist" pitchFamily="34" charset="-120"/>
              </a:rPr>
              <a:t>moment you speak.</a:t>
            </a:r>
            <a:endParaRPr lang="en-US" sz="1200" dirty="0"/>
          </a:p>
        </p:txBody>
      </p:sp>
      <p:sp>
        <p:nvSpPr>
          <p:cNvPr id="13" name="Text 11"/>
          <p:cNvSpPr txBox="1"/>
          <p:nvPr/>
        </p:nvSpPr>
        <p:spPr>
          <a:xfrm>
            <a:off x="8267700" y="3009900"/>
            <a:ext cx="326231" cy="193040"/>
          </a:xfrm>
          <a:prstGeom prst="rect">
            <a:avLst/>
          </a:prstGeom>
          <a:noFill/>
          <a:ln/>
        </p:spPr>
        <p:txBody>
          <a:bodyPr wrap="square" lIns="0" tIns="0" rIns="0" bIns="0" rtlCol="0" anchor="t"/>
          <a:lstStyle/>
          <a:p>
            <a:pPr algn="l" indent="0" marL="0">
              <a:lnSpc>
                <a:spcPts val="1200"/>
              </a:lnSpc>
              <a:buNone/>
            </a:pPr>
            <a:r>
              <a:rPr lang="en-US" sz="900" spc="144" kern="0" dirty="0">
                <a:solidFill>
                  <a:srgbClr val="F2545B"/>
                </a:solidFill>
                <a:latin typeface="Geist Mono" pitchFamily="34" charset="0"/>
                <a:ea typeface="Geist Mono" pitchFamily="34" charset="-122"/>
                <a:cs typeface="Geist Mono" pitchFamily="34" charset="-120"/>
              </a:rPr>
              <a:t>03</a:t>
            </a:r>
            <a:endParaRPr lang="en-US" sz="900" dirty="0"/>
          </a:p>
        </p:txBody>
      </p:sp>
      <p:sp>
        <p:nvSpPr>
          <p:cNvPr id="14" name="Text 12"/>
          <p:cNvSpPr txBox="1"/>
          <p:nvPr/>
        </p:nvSpPr>
        <p:spPr>
          <a:xfrm>
            <a:off x="8267700" y="3213100"/>
            <a:ext cx="3140964" cy="416560"/>
          </a:xfrm>
          <a:prstGeom prst="rect">
            <a:avLst/>
          </a:prstGeom>
          <a:noFill/>
          <a:ln/>
        </p:spPr>
        <p:txBody>
          <a:bodyPr wrap="square" lIns="0" tIns="0" rIns="0" bIns="0" rtlCol="0" anchor="t"/>
          <a:lstStyle/>
          <a:p>
            <a:pPr algn="l" indent="0" marL="0">
              <a:lnSpc>
                <a:spcPts val="2800"/>
              </a:lnSpc>
              <a:buNone/>
            </a:pPr>
            <a:r>
              <a:rPr lang="en-US" sz="2500" spc="-25" kern="0" dirty="0">
                <a:solidFill>
                  <a:srgbClr val="F4F4F5"/>
                </a:solidFill>
                <a:latin typeface="Instrument Serif" pitchFamily="34" charset="0"/>
                <a:ea typeface="Instrument Serif" pitchFamily="34" charset="-122"/>
                <a:cs typeface="Instrument Serif" pitchFamily="34" charset="-120"/>
              </a:rPr>
              <a:t>Made up answers</a:t>
            </a:r>
            <a:endParaRPr lang="en-US" sz="2500" dirty="0"/>
          </a:p>
        </p:txBody>
      </p:sp>
      <p:sp>
        <p:nvSpPr>
          <p:cNvPr id="15" name="Text 13"/>
          <p:cNvSpPr txBox="1"/>
          <p:nvPr/>
        </p:nvSpPr>
        <p:spPr>
          <a:xfrm>
            <a:off x="8267700" y="3695700"/>
            <a:ext cx="3140964" cy="500380"/>
          </a:xfrm>
          <a:prstGeom prst="rect">
            <a:avLst/>
          </a:prstGeom>
          <a:noFill/>
          <a:ln/>
        </p:spPr>
        <p:txBody>
          <a:bodyPr wrap="square" lIns="0" tIns="0" rIns="0" bIns="0" rtlCol="0" anchor="t"/>
          <a:lstStyle/>
          <a:p>
            <a:pPr algn="l" indent="0" marL="0">
              <a:lnSpc>
                <a:spcPts val="1700"/>
              </a:lnSpc>
              <a:buNone/>
            </a:pPr>
            <a:r>
              <a:rPr lang="en-US" sz="1200" dirty="0">
                <a:solidFill>
                  <a:srgbClr val="FF7A30"/>
                </a:solidFill>
                <a:latin typeface="Geist" pitchFamily="34" charset="0"/>
                <a:ea typeface="Geist" pitchFamily="34" charset="-122"/>
                <a:cs typeface="Geist" pitchFamily="34" charset="-120"/>
              </a:rPr>
              <a:t>Suryo:</a:t>
            </a:r>
            <a:pPr algn="l" indent="0" marL="0">
              <a:lnSpc>
                <a:spcPts val="1700"/>
              </a:lnSpc>
              <a:buNone/>
            </a:pPr>
            <a:r>
              <a:rPr lang="en-US" sz="1200" dirty="0">
                <a:solidFill>
                  <a:srgbClr val="A1A1AA"/>
                </a:solidFill>
                <a:latin typeface="Geist" pitchFamily="34" charset="0"/>
                <a:ea typeface="Geist" pitchFamily="34" charset="-122"/>
                <a:cs typeface="Geist" pitchFamily="34" charset="-120"/>
              </a:rPr>
              <a:t> Answers only from the business’s</a:t>
            </a:r>
            <a:br/>
            <a:pPr algn="l" indent="0" marL="0">
              <a:lnSpc>
                <a:spcPts val="1700"/>
              </a:lnSpc>
              <a:buNone/>
            </a:pPr>
            <a:r>
              <a:rPr lang="en-US" sz="1200" dirty="0">
                <a:solidFill>
                  <a:srgbClr val="A1A1AA"/>
                </a:solidFill>
                <a:latin typeface="Geist" pitchFamily="34" charset="0"/>
                <a:ea typeface="Geist" pitchFamily="34" charset="-122"/>
                <a:cs typeface="Geist" pitchFamily="34" charset="-120"/>
              </a:rPr>
              <a:t>own knowledge.</a:t>
            </a:r>
            <a:endParaRPr lang="en-US" sz="1200" dirty="0"/>
          </a:p>
        </p:txBody>
      </p:sp>
      <p:sp>
        <p:nvSpPr>
          <p:cNvPr id="16" name="Text 14"/>
          <p:cNvSpPr txBox="1"/>
          <p:nvPr/>
        </p:nvSpPr>
        <p:spPr>
          <a:xfrm>
            <a:off x="1016000" y="4686300"/>
            <a:ext cx="326231" cy="193040"/>
          </a:xfrm>
          <a:prstGeom prst="rect">
            <a:avLst/>
          </a:prstGeom>
          <a:noFill/>
          <a:ln/>
        </p:spPr>
        <p:txBody>
          <a:bodyPr wrap="square" lIns="0" tIns="0" rIns="0" bIns="0" rtlCol="0" anchor="t"/>
          <a:lstStyle/>
          <a:p>
            <a:pPr algn="l" indent="0" marL="0">
              <a:lnSpc>
                <a:spcPts val="1200"/>
              </a:lnSpc>
              <a:buNone/>
            </a:pPr>
            <a:r>
              <a:rPr lang="en-US" sz="900" spc="144" kern="0" dirty="0">
                <a:solidFill>
                  <a:srgbClr val="F2545B"/>
                </a:solidFill>
                <a:latin typeface="Geist Mono" pitchFamily="34" charset="0"/>
                <a:ea typeface="Geist Mono" pitchFamily="34" charset="-122"/>
                <a:cs typeface="Geist Mono" pitchFamily="34" charset="-120"/>
              </a:rPr>
              <a:t>04</a:t>
            </a:r>
            <a:endParaRPr lang="en-US" sz="900" dirty="0"/>
          </a:p>
        </p:txBody>
      </p:sp>
      <p:sp>
        <p:nvSpPr>
          <p:cNvPr id="17" name="Text 15"/>
          <p:cNvSpPr txBox="1"/>
          <p:nvPr/>
        </p:nvSpPr>
        <p:spPr>
          <a:xfrm>
            <a:off x="1016000" y="4889500"/>
            <a:ext cx="3140964" cy="416560"/>
          </a:xfrm>
          <a:prstGeom prst="rect">
            <a:avLst/>
          </a:prstGeom>
          <a:noFill/>
          <a:ln/>
        </p:spPr>
        <p:txBody>
          <a:bodyPr wrap="square" lIns="0" tIns="0" rIns="0" bIns="0" rtlCol="0" anchor="t"/>
          <a:lstStyle/>
          <a:p>
            <a:pPr algn="l" indent="0" marL="0">
              <a:lnSpc>
                <a:spcPts val="2800"/>
              </a:lnSpc>
              <a:buNone/>
            </a:pPr>
            <a:r>
              <a:rPr lang="en-US" sz="2500" spc="-25" kern="0" dirty="0">
                <a:solidFill>
                  <a:srgbClr val="F4F4F5"/>
                </a:solidFill>
                <a:latin typeface="Instrument Serif" pitchFamily="34" charset="0"/>
                <a:ea typeface="Instrument Serif" pitchFamily="34" charset="-122"/>
                <a:cs typeface="Instrument Serif" pitchFamily="34" charset="-120"/>
              </a:rPr>
              <a:t>Double bookings</a:t>
            </a:r>
            <a:endParaRPr lang="en-US" sz="2500" dirty="0"/>
          </a:p>
        </p:txBody>
      </p:sp>
      <p:sp>
        <p:nvSpPr>
          <p:cNvPr id="18" name="Text 16"/>
          <p:cNvSpPr txBox="1"/>
          <p:nvPr/>
        </p:nvSpPr>
        <p:spPr>
          <a:xfrm>
            <a:off x="1016000" y="5372100"/>
            <a:ext cx="3140964" cy="500380"/>
          </a:xfrm>
          <a:prstGeom prst="rect">
            <a:avLst/>
          </a:prstGeom>
          <a:noFill/>
          <a:ln/>
        </p:spPr>
        <p:txBody>
          <a:bodyPr wrap="square" lIns="0" tIns="0" rIns="0" bIns="0" rtlCol="0" anchor="t"/>
          <a:lstStyle/>
          <a:p>
            <a:pPr algn="l" indent="0" marL="0">
              <a:lnSpc>
                <a:spcPts val="1700"/>
              </a:lnSpc>
              <a:buNone/>
            </a:pPr>
            <a:r>
              <a:rPr lang="en-US" sz="1200" dirty="0">
                <a:solidFill>
                  <a:srgbClr val="FF7A30"/>
                </a:solidFill>
                <a:latin typeface="Geist" pitchFamily="34" charset="0"/>
                <a:ea typeface="Geist" pitchFamily="34" charset="-122"/>
                <a:cs typeface="Geist" pitchFamily="34" charset="-120"/>
              </a:rPr>
              <a:t>Suryo:</a:t>
            </a:r>
            <a:pPr algn="l" indent="0" marL="0">
              <a:lnSpc>
                <a:spcPts val="1700"/>
              </a:lnSpc>
              <a:buNone/>
            </a:pPr>
            <a:r>
              <a:rPr lang="en-US" sz="1200" dirty="0">
                <a:solidFill>
                  <a:srgbClr val="A1A1AA"/>
                </a:solidFill>
                <a:latin typeface="Geist" pitchFamily="34" charset="0"/>
                <a:ea typeface="Geist" pitchFamily="34" charset="-122"/>
                <a:cs typeface="Geist" pitchFamily="34" charset="-120"/>
              </a:rPr>
              <a:t> Blocked by the database itself, not</a:t>
            </a:r>
            <a:br/>
            <a:pPr algn="l" indent="0" marL="0">
              <a:lnSpc>
                <a:spcPts val="1700"/>
              </a:lnSpc>
              <a:buNone/>
            </a:pPr>
            <a:r>
              <a:rPr lang="en-US" sz="1200" dirty="0">
                <a:solidFill>
                  <a:srgbClr val="A1A1AA"/>
                </a:solidFill>
                <a:latin typeface="Geist" pitchFamily="34" charset="0"/>
                <a:ea typeface="Geist" pitchFamily="34" charset="-122"/>
                <a:cs typeface="Geist" pitchFamily="34" charset="-120"/>
              </a:rPr>
              <a:t>by a polite prompt.</a:t>
            </a:r>
            <a:endParaRPr lang="en-US" sz="1200" dirty="0"/>
          </a:p>
        </p:txBody>
      </p:sp>
      <p:sp>
        <p:nvSpPr>
          <p:cNvPr id="19" name="Text 17"/>
          <p:cNvSpPr txBox="1"/>
          <p:nvPr/>
        </p:nvSpPr>
        <p:spPr>
          <a:xfrm>
            <a:off x="4641850" y="4686300"/>
            <a:ext cx="326231" cy="193040"/>
          </a:xfrm>
          <a:prstGeom prst="rect">
            <a:avLst/>
          </a:prstGeom>
          <a:noFill/>
          <a:ln/>
        </p:spPr>
        <p:txBody>
          <a:bodyPr wrap="square" lIns="0" tIns="0" rIns="0" bIns="0" rtlCol="0" anchor="t"/>
          <a:lstStyle/>
          <a:p>
            <a:pPr algn="l" indent="0" marL="0">
              <a:lnSpc>
                <a:spcPts val="1200"/>
              </a:lnSpc>
              <a:buNone/>
            </a:pPr>
            <a:r>
              <a:rPr lang="en-US" sz="900" spc="144" kern="0" dirty="0">
                <a:solidFill>
                  <a:srgbClr val="F2545B"/>
                </a:solidFill>
                <a:latin typeface="Geist Mono" pitchFamily="34" charset="0"/>
                <a:ea typeface="Geist Mono" pitchFamily="34" charset="-122"/>
                <a:cs typeface="Geist Mono" pitchFamily="34" charset="-120"/>
              </a:rPr>
              <a:t>05</a:t>
            </a:r>
            <a:endParaRPr lang="en-US" sz="900" dirty="0"/>
          </a:p>
        </p:txBody>
      </p:sp>
      <p:sp>
        <p:nvSpPr>
          <p:cNvPr id="20" name="Text 18"/>
          <p:cNvSpPr txBox="1"/>
          <p:nvPr/>
        </p:nvSpPr>
        <p:spPr>
          <a:xfrm>
            <a:off x="4641850" y="4889500"/>
            <a:ext cx="3140964" cy="416560"/>
          </a:xfrm>
          <a:prstGeom prst="rect">
            <a:avLst/>
          </a:prstGeom>
          <a:noFill/>
          <a:ln/>
        </p:spPr>
        <p:txBody>
          <a:bodyPr wrap="square" lIns="0" tIns="0" rIns="0" bIns="0" rtlCol="0" anchor="t"/>
          <a:lstStyle/>
          <a:p>
            <a:pPr algn="l" indent="0" marL="0">
              <a:lnSpc>
                <a:spcPts val="2800"/>
              </a:lnSpc>
              <a:buNone/>
            </a:pPr>
            <a:r>
              <a:rPr lang="en-US" sz="2500" spc="-25" kern="0" dirty="0">
                <a:solidFill>
                  <a:srgbClr val="F4F4F5"/>
                </a:solidFill>
                <a:latin typeface="Instrument Serif" pitchFamily="34" charset="0"/>
                <a:ea typeface="Instrument Serif" pitchFamily="34" charset="-122"/>
                <a:cs typeface="Instrument Serif" pitchFamily="34" charset="-120"/>
              </a:rPr>
              <a:t>Handoffs from zero</a:t>
            </a:r>
            <a:endParaRPr lang="en-US" sz="2500" dirty="0"/>
          </a:p>
        </p:txBody>
      </p:sp>
      <p:sp>
        <p:nvSpPr>
          <p:cNvPr id="21" name="Text 19"/>
          <p:cNvSpPr txBox="1"/>
          <p:nvPr/>
        </p:nvSpPr>
        <p:spPr>
          <a:xfrm>
            <a:off x="4641850" y="5372100"/>
            <a:ext cx="3140964" cy="500380"/>
          </a:xfrm>
          <a:prstGeom prst="rect">
            <a:avLst/>
          </a:prstGeom>
          <a:noFill/>
          <a:ln/>
        </p:spPr>
        <p:txBody>
          <a:bodyPr wrap="square" lIns="0" tIns="0" rIns="0" bIns="0" rtlCol="0" anchor="t"/>
          <a:lstStyle/>
          <a:p>
            <a:pPr algn="l" indent="0" marL="0">
              <a:lnSpc>
                <a:spcPts val="1700"/>
              </a:lnSpc>
              <a:buNone/>
            </a:pPr>
            <a:r>
              <a:rPr lang="en-US" sz="1200" dirty="0">
                <a:solidFill>
                  <a:srgbClr val="FF7A30"/>
                </a:solidFill>
                <a:latin typeface="Geist" pitchFamily="34" charset="0"/>
                <a:ea typeface="Geist" pitchFamily="34" charset="-122"/>
                <a:cs typeface="Geist" pitchFamily="34" charset="-120"/>
              </a:rPr>
              <a:t>Suryo:</a:t>
            </a:r>
            <a:pPr algn="l" indent="0" marL="0">
              <a:lnSpc>
                <a:spcPts val="1700"/>
              </a:lnSpc>
              <a:buNone/>
            </a:pPr>
            <a:r>
              <a:rPr lang="en-US" sz="1200" dirty="0">
                <a:solidFill>
                  <a:srgbClr val="A1A1AA"/>
                </a:solidFill>
                <a:latin typeface="Geist" pitchFamily="34" charset="0"/>
                <a:ea typeface="Geist" pitchFamily="34" charset="-122"/>
                <a:cs typeface="Geist" pitchFamily="34" charset="-120"/>
              </a:rPr>
              <a:t> Every escalation arrives with a</a:t>
            </a:r>
            <a:br/>
            <a:pPr algn="l" indent="0" marL="0">
              <a:lnSpc>
                <a:spcPts val="1700"/>
              </a:lnSpc>
              <a:buNone/>
            </a:pPr>
            <a:r>
              <a:rPr lang="en-US" sz="1200" dirty="0">
                <a:solidFill>
                  <a:srgbClr val="A1A1AA"/>
                </a:solidFill>
                <a:latin typeface="Geist" pitchFamily="34" charset="0"/>
                <a:ea typeface="Geist" pitchFamily="34" charset="-122"/>
                <a:cs typeface="Geist" pitchFamily="34" charset="-120"/>
              </a:rPr>
              <a:t>three line summary.</a:t>
            </a:r>
            <a:endParaRPr lang="en-US" sz="1200" dirty="0"/>
          </a:p>
        </p:txBody>
      </p:sp>
      <p:sp>
        <p:nvSpPr>
          <p:cNvPr id="22" name="Text 20"/>
          <p:cNvSpPr txBox="1"/>
          <p:nvPr/>
        </p:nvSpPr>
        <p:spPr>
          <a:xfrm>
            <a:off x="8267700" y="4686300"/>
            <a:ext cx="326231" cy="193040"/>
          </a:xfrm>
          <a:prstGeom prst="rect">
            <a:avLst/>
          </a:prstGeom>
          <a:noFill/>
          <a:ln/>
        </p:spPr>
        <p:txBody>
          <a:bodyPr wrap="square" lIns="0" tIns="0" rIns="0" bIns="0" rtlCol="0" anchor="t"/>
          <a:lstStyle/>
          <a:p>
            <a:pPr algn="l" indent="0" marL="0">
              <a:lnSpc>
                <a:spcPts val="1200"/>
              </a:lnSpc>
              <a:buNone/>
            </a:pPr>
            <a:r>
              <a:rPr lang="en-US" sz="900" spc="144" kern="0" dirty="0">
                <a:solidFill>
                  <a:srgbClr val="F2545B"/>
                </a:solidFill>
                <a:latin typeface="Geist Mono" pitchFamily="34" charset="0"/>
                <a:ea typeface="Geist Mono" pitchFamily="34" charset="-122"/>
                <a:cs typeface="Geist Mono" pitchFamily="34" charset="-120"/>
              </a:rPr>
              <a:t>06</a:t>
            </a:r>
            <a:endParaRPr lang="en-US" sz="900" dirty="0"/>
          </a:p>
        </p:txBody>
      </p:sp>
      <p:sp>
        <p:nvSpPr>
          <p:cNvPr id="23" name="Text 21"/>
          <p:cNvSpPr txBox="1"/>
          <p:nvPr/>
        </p:nvSpPr>
        <p:spPr>
          <a:xfrm>
            <a:off x="8267700" y="4889500"/>
            <a:ext cx="3140964" cy="416560"/>
          </a:xfrm>
          <a:prstGeom prst="rect">
            <a:avLst/>
          </a:prstGeom>
          <a:noFill/>
          <a:ln/>
        </p:spPr>
        <p:txBody>
          <a:bodyPr wrap="square" lIns="0" tIns="0" rIns="0" bIns="0" rtlCol="0" anchor="t"/>
          <a:lstStyle/>
          <a:p>
            <a:pPr algn="l" indent="0" marL="0">
              <a:lnSpc>
                <a:spcPts val="2800"/>
              </a:lnSpc>
              <a:buNone/>
            </a:pPr>
            <a:r>
              <a:rPr lang="en-US" sz="2500" spc="-25" kern="0" dirty="0">
                <a:solidFill>
                  <a:srgbClr val="F4F4F5"/>
                </a:solidFill>
                <a:latin typeface="Instrument Serif" pitchFamily="34" charset="0"/>
                <a:ea typeface="Instrument Serif" pitchFamily="34" charset="-122"/>
                <a:cs typeface="Instrument Serif" pitchFamily="34" charset="-120"/>
              </a:rPr>
              <a:t>Weeks of setup</a:t>
            </a:r>
            <a:endParaRPr lang="en-US" sz="2500" dirty="0"/>
          </a:p>
        </p:txBody>
      </p:sp>
      <p:sp>
        <p:nvSpPr>
          <p:cNvPr id="24" name="Text 22"/>
          <p:cNvSpPr txBox="1"/>
          <p:nvPr/>
        </p:nvSpPr>
        <p:spPr>
          <a:xfrm>
            <a:off x="8267700" y="5372100"/>
            <a:ext cx="3140964" cy="500380"/>
          </a:xfrm>
          <a:prstGeom prst="rect">
            <a:avLst/>
          </a:prstGeom>
          <a:noFill/>
          <a:ln/>
        </p:spPr>
        <p:txBody>
          <a:bodyPr wrap="square" lIns="0" tIns="0" rIns="0" bIns="0" rtlCol="0" anchor="t"/>
          <a:lstStyle/>
          <a:p>
            <a:pPr algn="l" indent="0" marL="0">
              <a:lnSpc>
                <a:spcPts val="1700"/>
              </a:lnSpc>
              <a:buNone/>
            </a:pPr>
            <a:r>
              <a:rPr lang="en-US" sz="1200" dirty="0">
                <a:solidFill>
                  <a:srgbClr val="FF7A30"/>
                </a:solidFill>
                <a:latin typeface="Geist" pitchFamily="34" charset="0"/>
                <a:ea typeface="Geist" pitchFamily="34" charset="-122"/>
                <a:cs typeface="Geist" pitchFamily="34" charset="-120"/>
              </a:rPr>
              <a:t>Suryo:</a:t>
            </a:r>
            <a:pPr algn="l" indent="0" marL="0">
              <a:lnSpc>
                <a:spcPts val="1700"/>
              </a:lnSpc>
              <a:buNone/>
            </a:pPr>
            <a:r>
              <a:rPr lang="en-US" sz="1200" dirty="0">
                <a:solidFill>
                  <a:srgbClr val="A1A1AA"/>
                </a:solidFill>
                <a:latin typeface="Geist" pitchFamily="34" charset="0"/>
                <a:ea typeface="Geist" pitchFamily="34" charset="-122"/>
                <a:cs typeface="Geist" pitchFamily="34" charset="-120"/>
              </a:rPr>
              <a:t> A URL or a PDF. A grounded agent,</a:t>
            </a:r>
            <a:br/>
            <a:pPr algn="l" indent="0" marL="0">
              <a:lnSpc>
                <a:spcPts val="1700"/>
              </a:lnSpc>
              <a:buNone/>
            </a:pPr>
            <a:r>
              <a:rPr lang="en-US" sz="1200" dirty="0">
                <a:solidFill>
                  <a:srgbClr val="A1A1AA"/>
                </a:solidFill>
                <a:latin typeface="Geist" pitchFamily="34" charset="0"/>
                <a:ea typeface="Geist" pitchFamily="34" charset="-122"/>
                <a:cs typeface="Geist" pitchFamily="34" charset="-120"/>
              </a:rPr>
              <a:t>live in seconds.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Slide artwork" descr="One brain, every channel slide artwork">    </p:cNvPr>
          <p:cNvPicPr>
            <a:picLocks noChangeAspect="1"/>
          </p:cNvPicPr>
          <p:nvPr/>
        </p:nvPicPr>
        <p:blipFill>
          <a:blip r:embed="rId1"/>
          <a:stretch>
            <a:fillRect/>
          </a:stretch>
        </p:blipFill>
        <p:spPr>
          <a:xfrm>
            <a:off x="0" y="0"/>
            <a:ext cx="12191695" cy="6858000"/>
          </a:xfrm>
          <a:prstGeom prst="rect">
            <a:avLst/>
          </a:prstGeom>
        </p:spPr>
      </p:pic>
      <p:sp>
        <p:nvSpPr>
          <p:cNvPr id="3" name="Text 1"/>
          <p:cNvSpPr txBox="1"/>
          <p:nvPr/>
        </p:nvSpPr>
        <p:spPr>
          <a:xfrm>
            <a:off x="1066800" y="457200"/>
            <a:ext cx="601464" cy="304800"/>
          </a:xfrm>
          <a:prstGeom prst="rect">
            <a:avLst/>
          </a:prstGeom>
          <a:noFill/>
          <a:ln/>
        </p:spPr>
        <p:txBody>
          <a:bodyPr wrap="square" lIns="0" tIns="0" rIns="0" bIns="0" rtlCol="0" anchor="t"/>
          <a:lstStyle/>
          <a:p>
            <a:pPr algn="l" indent="0" marL="0">
              <a:lnSpc>
                <a:spcPts val="2000"/>
              </a:lnSpc>
              <a:buNone/>
            </a:pPr>
            <a:r>
              <a:rPr lang="en-US" sz="1800" dirty="0">
                <a:solidFill>
                  <a:srgbClr val="F4F4F5"/>
                </a:solidFill>
                <a:latin typeface="Instrument Serif" pitchFamily="34" charset="0"/>
                <a:ea typeface="Instrument Serif" pitchFamily="34" charset="-122"/>
                <a:cs typeface="Instrument Serif" pitchFamily="34" charset="-120"/>
              </a:rPr>
              <a:t>Suryo</a:t>
            </a:r>
            <a:endParaRPr lang="en-US" sz="1800" dirty="0"/>
          </a:p>
        </p:txBody>
      </p:sp>
      <p:sp>
        <p:nvSpPr>
          <p:cNvPr id="4" name="Text 2"/>
          <p:cNvSpPr txBox="1"/>
          <p:nvPr/>
        </p:nvSpPr>
        <p:spPr>
          <a:xfrm>
            <a:off x="9887645" y="520700"/>
            <a:ext cx="1542355" cy="193040"/>
          </a:xfrm>
          <a:prstGeom prst="rect">
            <a:avLst/>
          </a:prstGeom>
          <a:noFill/>
          <a:ln/>
        </p:spPr>
        <p:txBody>
          <a:bodyPr wrap="square" lIns="0" tIns="0" rIns="0" bIns="0" rtlCol="0" anchor="t"/>
          <a:lstStyle/>
          <a:p>
            <a:pPr algn="r" indent="0" marL="0">
              <a:lnSpc>
                <a:spcPts val="1200"/>
              </a:lnSpc>
              <a:buNone/>
            </a:pPr>
            <a:r>
              <a:rPr lang="en-US" sz="900" spc="144" kern="0" dirty="0">
                <a:solidFill>
                  <a:srgbClr val="8A8A93"/>
                </a:solidFill>
                <a:latin typeface="Geist Mono" pitchFamily="34" charset="0"/>
                <a:ea typeface="Geist Mono" pitchFamily="34" charset="-122"/>
                <a:cs typeface="Geist Mono" pitchFamily="34" charset="-120"/>
              </a:rPr>
              <a:t>03 · THE PRODUCT</a:t>
            </a:r>
            <a:endParaRPr lang="en-US" sz="900" dirty="0"/>
          </a:p>
        </p:txBody>
      </p:sp>
      <p:sp>
        <p:nvSpPr>
          <p:cNvPr id="5" name="Text 3"/>
          <p:cNvSpPr txBox="1"/>
          <p:nvPr/>
        </p:nvSpPr>
        <p:spPr>
          <a:xfrm>
            <a:off x="762000" y="1244600"/>
            <a:ext cx="10287000" cy="668020"/>
          </a:xfrm>
          <a:prstGeom prst="rect">
            <a:avLst/>
          </a:prstGeom>
          <a:noFill/>
          <a:ln/>
        </p:spPr>
        <p:txBody>
          <a:bodyPr wrap="square" lIns="0" tIns="0" rIns="0" bIns="0" rtlCol="0" anchor="t"/>
          <a:lstStyle/>
          <a:p>
            <a:pPr algn="l" indent="0" marL="0">
              <a:lnSpc>
                <a:spcPts val="4600"/>
              </a:lnSpc>
              <a:buNone/>
            </a:pPr>
            <a:r>
              <a:rPr lang="en-US" sz="4400" spc="-53" kern="0" dirty="0">
                <a:solidFill>
                  <a:srgbClr val="F4F4F5"/>
                </a:solidFill>
                <a:latin typeface="Instrument Serif" pitchFamily="34" charset="0"/>
                <a:ea typeface="Instrument Serif" pitchFamily="34" charset="-122"/>
                <a:cs typeface="Instrument Serif" pitchFamily="34" charset="-120"/>
              </a:rPr>
              <a:t>One brain. </a:t>
            </a:r>
            <a:pPr algn="l" indent="0" marL="0">
              <a:lnSpc>
                <a:spcPts val="4600"/>
              </a:lnSpc>
              <a:buNone/>
            </a:pPr>
            <a:r>
              <a:rPr lang="en-US" sz="4400" i="1" spc="-53" kern="0" dirty="0">
                <a:solidFill>
                  <a:srgbClr val="FF7A30"/>
                </a:solidFill>
                <a:latin typeface="Instrument Serif" pitchFamily="34" charset="0"/>
                <a:ea typeface="Instrument Serif" pitchFamily="34" charset="-122"/>
                <a:cs typeface="Instrument Serif" pitchFamily="34" charset="-120"/>
              </a:rPr>
              <a:t>Every channel.</a:t>
            </a:r>
            <a:endParaRPr lang="en-US" sz="4400" dirty="0"/>
          </a:p>
        </p:txBody>
      </p:sp>
      <p:sp>
        <p:nvSpPr>
          <p:cNvPr id="6" name="Text 4"/>
          <p:cNvSpPr txBox="1"/>
          <p:nvPr/>
        </p:nvSpPr>
        <p:spPr>
          <a:xfrm>
            <a:off x="762000" y="2171700"/>
            <a:ext cx="586780" cy="193040"/>
          </a:xfrm>
          <a:prstGeom prst="rect">
            <a:avLst/>
          </a:prstGeom>
          <a:noFill/>
          <a:ln/>
        </p:spPr>
        <p:txBody>
          <a:bodyPr wrap="square" lIns="0" tIns="0" rIns="0" bIns="0" rtlCol="0" anchor="t"/>
          <a:lstStyle/>
          <a:p>
            <a:pPr algn="l" indent="0" marL="0">
              <a:lnSpc>
                <a:spcPts val="1200"/>
              </a:lnSpc>
              <a:buNone/>
            </a:pPr>
            <a:r>
              <a:rPr lang="en-US" sz="900" spc="144" kern="0" dirty="0">
                <a:solidFill>
                  <a:srgbClr val="FF7A30"/>
                </a:solidFill>
                <a:latin typeface="Geist Mono" pitchFamily="34" charset="0"/>
                <a:ea typeface="Geist Mono" pitchFamily="34" charset="-122"/>
                <a:cs typeface="Geist Mono" pitchFamily="34" charset="-120"/>
              </a:rPr>
              <a:t>VOICE</a:t>
            </a:r>
            <a:endParaRPr lang="en-US" sz="900" dirty="0"/>
          </a:p>
        </p:txBody>
      </p:sp>
      <p:sp>
        <p:nvSpPr>
          <p:cNvPr id="7" name="Text 5"/>
          <p:cNvSpPr txBox="1"/>
          <p:nvPr/>
        </p:nvSpPr>
        <p:spPr>
          <a:xfrm>
            <a:off x="762000" y="2374900"/>
            <a:ext cx="2057400" cy="500380"/>
          </a:xfrm>
          <a:prstGeom prst="rect">
            <a:avLst/>
          </a:prstGeom>
          <a:noFill/>
          <a:ln/>
        </p:spPr>
        <p:txBody>
          <a:bodyPr wrap="square" lIns="0" tIns="0" rIns="0" bIns="0" rtlCol="0" anchor="t"/>
          <a:lstStyle/>
          <a:p>
            <a:pPr algn="l" indent="0" marL="0">
              <a:lnSpc>
                <a:spcPts val="1700"/>
              </a:lnSpc>
              <a:buNone/>
            </a:pPr>
            <a:r>
              <a:rPr lang="en-US" sz="1200" dirty="0">
                <a:solidFill>
                  <a:srgbClr val="F4F4F5"/>
                </a:solidFill>
                <a:latin typeface="Geist" pitchFamily="34" charset="0"/>
                <a:ea typeface="Geist" pitchFamily="34" charset="-122"/>
                <a:cs typeface="Geist" pitchFamily="34" charset="-120"/>
              </a:rPr>
              <a:t>Scan a QR, talk in</a:t>
            </a:r>
            <a:br/>
            <a:pPr algn="l" indent="0" marL="0">
              <a:lnSpc>
                <a:spcPts val="1700"/>
              </a:lnSpc>
              <a:buNone/>
            </a:pPr>
            <a:r>
              <a:rPr lang="en-US" sz="1200" dirty="0">
                <a:solidFill>
                  <a:srgbClr val="F4F4F5"/>
                </a:solidFill>
                <a:latin typeface="Geist" pitchFamily="34" charset="0"/>
                <a:ea typeface="Geist" pitchFamily="34" charset="-122"/>
                <a:cs typeface="Geist" pitchFamily="34" charset="-120"/>
              </a:rPr>
              <a:t>the browser. No app.</a:t>
            </a:r>
            <a:endParaRPr lang="en-US" sz="1200" dirty="0"/>
          </a:p>
        </p:txBody>
      </p:sp>
      <p:sp>
        <p:nvSpPr>
          <p:cNvPr id="8" name="Text 6"/>
          <p:cNvSpPr txBox="1"/>
          <p:nvPr/>
        </p:nvSpPr>
        <p:spPr>
          <a:xfrm>
            <a:off x="2819400" y="2171700"/>
            <a:ext cx="499963" cy="193040"/>
          </a:xfrm>
          <a:prstGeom prst="rect">
            <a:avLst/>
          </a:prstGeom>
          <a:noFill/>
          <a:ln/>
        </p:spPr>
        <p:txBody>
          <a:bodyPr wrap="square" lIns="0" tIns="0" rIns="0" bIns="0" rtlCol="0" anchor="t"/>
          <a:lstStyle/>
          <a:p>
            <a:pPr algn="l" indent="0" marL="0">
              <a:lnSpc>
                <a:spcPts val="1200"/>
              </a:lnSpc>
              <a:buNone/>
            </a:pPr>
            <a:r>
              <a:rPr lang="en-US" sz="900" spc="144" kern="0" dirty="0">
                <a:solidFill>
                  <a:srgbClr val="FF7A30"/>
                </a:solidFill>
                <a:latin typeface="Geist Mono" pitchFamily="34" charset="0"/>
                <a:ea typeface="Geist Mono" pitchFamily="34" charset="-122"/>
                <a:cs typeface="Geist Mono" pitchFamily="34" charset="-120"/>
              </a:rPr>
              <a:t>CHAT</a:t>
            </a:r>
            <a:endParaRPr lang="en-US" sz="900" dirty="0"/>
          </a:p>
        </p:txBody>
      </p:sp>
      <p:sp>
        <p:nvSpPr>
          <p:cNvPr id="9" name="Text 7"/>
          <p:cNvSpPr txBox="1"/>
          <p:nvPr/>
        </p:nvSpPr>
        <p:spPr>
          <a:xfrm>
            <a:off x="2819400" y="2374900"/>
            <a:ext cx="2057400" cy="500380"/>
          </a:xfrm>
          <a:prstGeom prst="rect">
            <a:avLst/>
          </a:prstGeom>
          <a:noFill/>
          <a:ln/>
        </p:spPr>
        <p:txBody>
          <a:bodyPr wrap="square" lIns="0" tIns="0" rIns="0" bIns="0" rtlCol="0" anchor="t"/>
          <a:lstStyle/>
          <a:p>
            <a:pPr algn="l" indent="0" marL="0">
              <a:lnSpc>
                <a:spcPts val="1700"/>
              </a:lnSpc>
              <a:buNone/>
            </a:pPr>
            <a:r>
              <a:rPr lang="en-US" sz="1200" dirty="0">
                <a:solidFill>
                  <a:srgbClr val="F4F4F5"/>
                </a:solidFill>
                <a:latin typeface="Geist" pitchFamily="34" charset="0"/>
                <a:ea typeface="Geist" pitchFamily="34" charset="-122"/>
                <a:cs typeface="Geist" pitchFamily="34" charset="-120"/>
              </a:rPr>
              <a:t>One script tag on</a:t>
            </a:r>
            <a:br/>
            <a:pPr algn="l" indent="0" marL="0">
              <a:lnSpc>
                <a:spcPts val="1700"/>
              </a:lnSpc>
              <a:buNone/>
            </a:pPr>
            <a:r>
              <a:rPr lang="en-US" sz="1200" dirty="0">
                <a:solidFill>
                  <a:srgbClr val="F4F4F5"/>
                </a:solidFill>
                <a:latin typeface="Geist" pitchFamily="34" charset="0"/>
                <a:ea typeface="Geist" pitchFamily="34" charset="-122"/>
                <a:cs typeface="Geist" pitchFamily="34" charset="-120"/>
              </a:rPr>
              <a:t>any website.</a:t>
            </a:r>
            <a:endParaRPr lang="en-US" sz="1200" dirty="0"/>
          </a:p>
        </p:txBody>
      </p:sp>
      <p:sp>
        <p:nvSpPr>
          <p:cNvPr id="10" name="Text 8"/>
          <p:cNvSpPr txBox="1"/>
          <p:nvPr/>
        </p:nvSpPr>
        <p:spPr>
          <a:xfrm>
            <a:off x="5207000" y="2171700"/>
            <a:ext cx="760512" cy="193040"/>
          </a:xfrm>
          <a:prstGeom prst="rect">
            <a:avLst/>
          </a:prstGeom>
          <a:noFill/>
          <a:ln/>
        </p:spPr>
        <p:txBody>
          <a:bodyPr wrap="square" lIns="0" tIns="0" rIns="0" bIns="0" rtlCol="0" anchor="t"/>
          <a:lstStyle/>
          <a:p>
            <a:pPr algn="l" indent="0" marL="0">
              <a:lnSpc>
                <a:spcPts val="1200"/>
              </a:lnSpc>
              <a:buNone/>
            </a:pPr>
            <a:r>
              <a:rPr lang="en-US" sz="900" spc="144" kern="0" dirty="0">
                <a:solidFill>
                  <a:srgbClr val="FF7A30"/>
                </a:solidFill>
                <a:latin typeface="Geist Mono" pitchFamily="34" charset="0"/>
                <a:ea typeface="Geist Mono" pitchFamily="34" charset="-122"/>
                <a:cs typeface="Geist Mono" pitchFamily="34" charset="-120"/>
              </a:rPr>
              <a:t>CONSOLE</a:t>
            </a:r>
            <a:endParaRPr lang="en-US" sz="900" dirty="0"/>
          </a:p>
        </p:txBody>
      </p:sp>
      <p:sp>
        <p:nvSpPr>
          <p:cNvPr id="11" name="Text 9"/>
          <p:cNvSpPr txBox="1"/>
          <p:nvPr/>
        </p:nvSpPr>
        <p:spPr>
          <a:xfrm>
            <a:off x="5207000" y="2374900"/>
            <a:ext cx="5212080" cy="500380"/>
          </a:xfrm>
          <a:prstGeom prst="rect">
            <a:avLst/>
          </a:prstGeom>
          <a:noFill/>
          <a:ln/>
        </p:spPr>
        <p:txBody>
          <a:bodyPr wrap="square" lIns="0" tIns="0" rIns="0" bIns="0" rtlCol="0" anchor="t"/>
          <a:lstStyle/>
          <a:p>
            <a:pPr algn="l" indent="0" marL="0">
              <a:lnSpc>
                <a:spcPts val="1700"/>
              </a:lnSpc>
              <a:buNone/>
            </a:pPr>
            <a:r>
              <a:rPr lang="en-US" sz="1200" dirty="0">
                <a:solidFill>
                  <a:srgbClr val="F4F4F5"/>
                </a:solidFill>
                <a:latin typeface="Geist" pitchFamily="34" charset="0"/>
                <a:ea typeface="Geist" pitchFamily="34" charset="-122"/>
                <a:cs typeface="Geist" pitchFamily="34" charset="-120"/>
              </a:rPr>
              <a:t>Your team sees every conversation live,</a:t>
            </a:r>
            <a:br/>
            <a:pPr algn="l" indent="0" marL="0">
              <a:lnSpc>
                <a:spcPts val="1700"/>
              </a:lnSpc>
              <a:buNone/>
            </a:pPr>
            <a:r>
              <a:rPr lang="en-US" sz="1200" dirty="0">
                <a:solidFill>
                  <a:srgbClr val="F4F4F5"/>
                </a:solidFill>
                <a:latin typeface="Geist" pitchFamily="34" charset="0"/>
                <a:ea typeface="Geist" pitchFamily="34" charset="-122"/>
                <a:cs typeface="Geist" pitchFamily="34" charset="-120"/>
              </a:rPr>
              <a:t>and steps in with one click.</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Slide artwork" descr="It acts slide artwork">    </p:cNvPr>
          <p:cNvPicPr>
            <a:picLocks noChangeAspect="1"/>
          </p:cNvPicPr>
          <p:nvPr/>
        </p:nvPicPr>
        <p:blipFill>
          <a:blip r:embed="rId1"/>
          <a:stretch>
            <a:fillRect/>
          </a:stretch>
        </p:blipFill>
        <p:spPr>
          <a:xfrm>
            <a:off x="0" y="0"/>
            <a:ext cx="12191695" cy="6858000"/>
          </a:xfrm>
          <a:prstGeom prst="rect">
            <a:avLst/>
          </a:prstGeom>
        </p:spPr>
      </p:pic>
      <p:sp>
        <p:nvSpPr>
          <p:cNvPr id="3" name="Text 1"/>
          <p:cNvSpPr txBox="1"/>
          <p:nvPr/>
        </p:nvSpPr>
        <p:spPr>
          <a:xfrm>
            <a:off x="1066800" y="457200"/>
            <a:ext cx="601464" cy="304800"/>
          </a:xfrm>
          <a:prstGeom prst="rect">
            <a:avLst/>
          </a:prstGeom>
          <a:noFill/>
          <a:ln/>
        </p:spPr>
        <p:txBody>
          <a:bodyPr wrap="square" lIns="0" tIns="0" rIns="0" bIns="0" rtlCol="0" anchor="t"/>
          <a:lstStyle/>
          <a:p>
            <a:pPr algn="l" indent="0" marL="0">
              <a:lnSpc>
                <a:spcPts val="2000"/>
              </a:lnSpc>
              <a:buNone/>
            </a:pPr>
            <a:r>
              <a:rPr lang="en-US" sz="1800" dirty="0">
                <a:solidFill>
                  <a:srgbClr val="F4F4F5"/>
                </a:solidFill>
                <a:latin typeface="Instrument Serif" pitchFamily="34" charset="0"/>
                <a:ea typeface="Instrument Serif" pitchFamily="34" charset="-122"/>
                <a:cs typeface="Instrument Serif" pitchFamily="34" charset="-120"/>
              </a:rPr>
              <a:t>Suryo</a:t>
            </a:r>
            <a:endParaRPr lang="en-US" sz="1800" dirty="0"/>
          </a:p>
        </p:txBody>
      </p:sp>
      <p:sp>
        <p:nvSpPr>
          <p:cNvPr id="4" name="Text 2"/>
          <p:cNvSpPr txBox="1"/>
          <p:nvPr/>
        </p:nvSpPr>
        <p:spPr>
          <a:xfrm>
            <a:off x="10235109" y="520700"/>
            <a:ext cx="1194891" cy="193040"/>
          </a:xfrm>
          <a:prstGeom prst="rect">
            <a:avLst/>
          </a:prstGeom>
          <a:noFill/>
          <a:ln/>
        </p:spPr>
        <p:txBody>
          <a:bodyPr wrap="square" lIns="0" tIns="0" rIns="0" bIns="0" rtlCol="0" anchor="t"/>
          <a:lstStyle/>
          <a:p>
            <a:pPr algn="r" indent="0" marL="0">
              <a:lnSpc>
                <a:spcPts val="1200"/>
              </a:lnSpc>
              <a:buNone/>
            </a:pPr>
            <a:r>
              <a:rPr lang="en-US" sz="900" spc="144" kern="0" dirty="0">
                <a:solidFill>
                  <a:srgbClr val="8A8A93"/>
                </a:solidFill>
                <a:latin typeface="Geist Mono" pitchFamily="34" charset="0"/>
                <a:ea typeface="Geist Mono" pitchFamily="34" charset="-122"/>
                <a:cs typeface="Geist Mono" pitchFamily="34" charset="-120"/>
              </a:rPr>
              <a:t>04 · IT ACTS</a:t>
            </a:r>
            <a:endParaRPr lang="en-US" sz="900" dirty="0"/>
          </a:p>
        </p:txBody>
      </p:sp>
      <p:sp>
        <p:nvSpPr>
          <p:cNvPr id="5" name="Text 3"/>
          <p:cNvSpPr txBox="1"/>
          <p:nvPr/>
        </p:nvSpPr>
        <p:spPr>
          <a:xfrm>
            <a:off x="762000" y="1244600"/>
            <a:ext cx="5897880" cy="1310640"/>
          </a:xfrm>
          <a:prstGeom prst="rect">
            <a:avLst/>
          </a:prstGeom>
          <a:noFill/>
          <a:ln/>
        </p:spPr>
        <p:txBody>
          <a:bodyPr wrap="square" lIns="0" tIns="0" rIns="0" bIns="0" rtlCol="0" anchor="t"/>
          <a:lstStyle/>
          <a:p>
            <a:pPr algn="l" indent="0" marL="0">
              <a:lnSpc>
                <a:spcPts val="4600"/>
              </a:lnSpc>
              <a:buNone/>
            </a:pPr>
            <a:r>
              <a:rPr lang="en-US" sz="4400" spc="-53" kern="0" dirty="0">
                <a:solidFill>
                  <a:srgbClr val="F4F4F5"/>
                </a:solidFill>
                <a:latin typeface="Instrument Serif" pitchFamily="34" charset="0"/>
                <a:ea typeface="Instrument Serif" pitchFamily="34" charset="-122"/>
                <a:cs typeface="Instrument Serif" pitchFamily="34" charset="-120"/>
              </a:rPr>
              <a:t>It doesn’t just answer.</a:t>
            </a:r>
            <a:br/>
            <a:pPr algn="l" indent="0" marL="0">
              <a:lnSpc>
                <a:spcPts val="4600"/>
              </a:lnSpc>
              <a:buNone/>
            </a:pPr>
            <a:r>
              <a:rPr lang="en-US" sz="4400" spc="-53" kern="0" dirty="0">
                <a:solidFill>
                  <a:srgbClr val="F4F4F5"/>
                </a:solidFill>
                <a:latin typeface="Instrument Serif" pitchFamily="34" charset="0"/>
                <a:ea typeface="Instrument Serif" pitchFamily="34" charset="-122"/>
                <a:cs typeface="Instrument Serif" pitchFamily="34" charset="-120"/>
              </a:rPr>
              <a:t>It </a:t>
            </a:r>
            <a:pPr algn="l" indent="0" marL="0">
              <a:lnSpc>
                <a:spcPts val="4600"/>
              </a:lnSpc>
              <a:buNone/>
            </a:pPr>
            <a:r>
              <a:rPr lang="en-US" sz="4400" i="1" spc="-53" kern="0" dirty="0">
                <a:solidFill>
                  <a:srgbClr val="FF7A30"/>
                </a:solidFill>
                <a:latin typeface="Instrument Serif" pitchFamily="34" charset="0"/>
                <a:ea typeface="Instrument Serif" pitchFamily="34" charset="-122"/>
                <a:cs typeface="Instrument Serif" pitchFamily="34" charset="-120"/>
              </a:rPr>
              <a:t>does the work.</a:t>
            </a:r>
            <a:endParaRPr lang="en-US" sz="4400" dirty="0"/>
          </a:p>
        </p:txBody>
      </p:sp>
      <p:sp>
        <p:nvSpPr>
          <p:cNvPr id="6" name="Text 4"/>
          <p:cNvSpPr txBox="1"/>
          <p:nvPr/>
        </p:nvSpPr>
        <p:spPr>
          <a:xfrm>
            <a:off x="6807200" y="1549400"/>
            <a:ext cx="3002197" cy="193040"/>
          </a:xfrm>
          <a:prstGeom prst="rect">
            <a:avLst/>
          </a:prstGeom>
          <a:noFill/>
          <a:ln/>
        </p:spPr>
        <p:txBody>
          <a:bodyPr wrap="square" lIns="0" tIns="0" rIns="0" bIns="0" rtlCol="0" anchor="t"/>
          <a:lstStyle/>
          <a:p>
            <a:pPr algn="l" indent="0" marL="0">
              <a:lnSpc>
                <a:spcPts val="1200"/>
              </a:lnSpc>
              <a:buNone/>
            </a:pPr>
            <a:r>
              <a:rPr lang="en-US" sz="900" spc="144" kern="0" dirty="0">
                <a:solidFill>
                  <a:srgbClr val="FF7A30"/>
                </a:solidFill>
                <a:latin typeface="Geist Mono" pitchFamily="34" charset="0"/>
                <a:ea typeface="Geist Mono" pitchFamily="34" charset="-122"/>
                <a:cs typeface="Geist Mono" pitchFamily="34" charset="-120"/>
              </a:rPr>
              <a:t>WHY DOUBLE BOOKING CANNOT HAPPEN</a:t>
            </a:r>
            <a:endParaRPr lang="en-US" sz="900" dirty="0"/>
          </a:p>
        </p:txBody>
      </p:sp>
      <p:sp>
        <p:nvSpPr>
          <p:cNvPr id="7" name="Text 5"/>
          <p:cNvSpPr txBox="1"/>
          <p:nvPr/>
        </p:nvSpPr>
        <p:spPr>
          <a:xfrm>
            <a:off x="6807200" y="1841500"/>
            <a:ext cx="4800600" cy="863600"/>
          </a:xfrm>
          <a:prstGeom prst="rect">
            <a:avLst/>
          </a:prstGeom>
          <a:noFill/>
          <a:ln/>
        </p:spPr>
        <p:txBody>
          <a:bodyPr wrap="square" lIns="0" tIns="0" rIns="0" bIns="0" rtlCol="0" anchor="t"/>
          <a:lstStyle/>
          <a:p>
            <a:pPr algn="l" indent="0" marL="0">
              <a:lnSpc>
                <a:spcPts val="3000"/>
              </a:lnSpc>
              <a:buNone/>
            </a:pPr>
            <a:r>
              <a:rPr lang="en-US" sz="2800" spc="-28" kern="0" dirty="0">
                <a:solidFill>
                  <a:srgbClr val="F4F4F5"/>
                </a:solidFill>
                <a:latin typeface="Instrument Serif" pitchFamily="34" charset="0"/>
                <a:ea typeface="Instrument Serif" pitchFamily="34" charset="-122"/>
                <a:cs typeface="Instrument Serif" pitchFamily="34" charset="-120"/>
              </a:rPr>
              <a:t>Policy lives in code,</a:t>
            </a:r>
            <a:br/>
            <a:pPr algn="l" indent="0" marL="0">
              <a:lnSpc>
                <a:spcPts val="3000"/>
              </a:lnSpc>
              <a:buNone/>
            </a:pPr>
            <a:r>
              <a:rPr lang="en-US" sz="2800" spc="-28" kern="0" dirty="0">
                <a:solidFill>
                  <a:srgbClr val="F4F4F5"/>
                </a:solidFill>
                <a:latin typeface="Instrument Serif" pitchFamily="34" charset="0"/>
                <a:ea typeface="Instrument Serif" pitchFamily="34" charset="-122"/>
                <a:cs typeface="Instrument Serif" pitchFamily="34" charset="-120"/>
              </a:rPr>
              <a:t>not in the prompt.</a:t>
            </a:r>
            <a:endParaRPr lang="en-US" sz="2800" dirty="0"/>
          </a:p>
        </p:txBody>
      </p:sp>
      <p:sp>
        <p:nvSpPr>
          <p:cNvPr id="8" name="Text 6"/>
          <p:cNvSpPr txBox="1"/>
          <p:nvPr/>
        </p:nvSpPr>
        <p:spPr>
          <a:xfrm>
            <a:off x="6807200" y="2870200"/>
            <a:ext cx="4663440" cy="220980"/>
          </a:xfrm>
          <a:prstGeom prst="rect">
            <a:avLst/>
          </a:prstGeom>
          <a:noFill/>
          <a:ln/>
        </p:spPr>
        <p:txBody>
          <a:bodyPr wrap="square" lIns="0" tIns="0" rIns="0" bIns="0" rtlCol="0" anchor="t"/>
          <a:lstStyle/>
          <a:p>
            <a:pPr algn="l" indent="0" marL="0">
              <a:lnSpc>
                <a:spcPts val="1400"/>
              </a:lnSpc>
              <a:buNone/>
            </a:pPr>
            <a:r>
              <a:rPr lang="en-US" sz="1000" dirty="0">
                <a:solidFill>
                  <a:srgbClr val="8A8A93"/>
                </a:solidFill>
                <a:latin typeface="Geist" pitchFamily="34" charset="0"/>
                <a:ea typeface="Geist" pitchFamily="34" charset="-122"/>
                <a:cs typeface="Geist" pitchFamily="34" charset="-120"/>
              </a:rPr>
              <a:t>Same slot, same instant. Postgres lets exactly one through.</a:t>
            </a:r>
            <a:endParaRPr lang="en-US" sz="1000" dirty="0"/>
          </a:p>
        </p:txBody>
      </p:sp>
      <p:sp>
        <p:nvSpPr>
          <p:cNvPr id="9" name="Text 7"/>
          <p:cNvSpPr txBox="1"/>
          <p:nvPr/>
        </p:nvSpPr>
        <p:spPr>
          <a:xfrm>
            <a:off x="6807200" y="5448300"/>
            <a:ext cx="4636008" cy="500380"/>
          </a:xfrm>
          <a:prstGeom prst="rect">
            <a:avLst/>
          </a:prstGeom>
          <a:noFill/>
          <a:ln/>
        </p:spPr>
        <p:txBody>
          <a:bodyPr wrap="square" lIns="0" tIns="0" rIns="0" bIns="0" rtlCol="0" anchor="t"/>
          <a:lstStyle/>
          <a:p>
            <a:pPr algn="l" indent="0" marL="0">
              <a:lnSpc>
                <a:spcPts val="1700"/>
              </a:lnSpc>
              <a:buNone/>
            </a:pPr>
            <a:r>
              <a:rPr lang="en-US" sz="1200" dirty="0">
                <a:solidFill>
                  <a:srgbClr val="F4F4F5"/>
                </a:solidFill>
                <a:latin typeface="Geist" pitchFamily="34" charset="0"/>
                <a:ea typeface="Geist" pitchFamily="34" charset="-122"/>
                <a:cs typeface="Geist" pitchFamily="34" charset="-120"/>
              </a:rPr>
              <a:t>Plus a partial unique index</a:t>
            </a:r>
            <a:pPr algn="l" indent="0" marL="0">
              <a:lnSpc>
                <a:spcPts val="1700"/>
              </a:lnSpc>
              <a:buNone/>
            </a:pPr>
            <a:r>
              <a:rPr lang="en-US" sz="1200" dirty="0">
                <a:solidFill>
                  <a:srgbClr val="A1A1AA"/>
                </a:solidFill>
                <a:latin typeface="Geist" pitchFamily="34" charset="0"/>
                <a:ea typeface="Geist" pitchFamily="34" charset="-122"/>
                <a:cs typeface="Geist" pitchFamily="34" charset="-120"/>
              </a:rPr>
              <a:t> on live appointments, and a race</a:t>
            </a:r>
            <a:br/>
            <a:pPr algn="l" indent="0" marL="0">
              <a:lnSpc>
                <a:spcPts val="1700"/>
              </a:lnSpc>
              <a:buNone/>
            </a:pPr>
            <a:r>
              <a:rPr lang="en-US" sz="1200" dirty="0">
                <a:solidFill>
                  <a:srgbClr val="A1A1AA"/>
                </a:solidFill>
                <a:latin typeface="Geist" pitchFamily="34" charset="0"/>
                <a:ea typeface="Geist" pitchFamily="34" charset="-122"/>
                <a:cs typeface="Geist" pitchFamily="34" charset="-120"/>
              </a:rPr>
              <a:t>test against the real database that asserts one winner.</a:t>
            </a:r>
            <a:endParaRPr lang="en-US" sz="1200" dirty="0"/>
          </a:p>
        </p:txBody>
      </p:sp>
      <p:sp>
        <p:nvSpPr>
          <p:cNvPr id="10" name="Text 8"/>
          <p:cNvSpPr txBox="1"/>
          <p:nvPr/>
        </p:nvSpPr>
        <p:spPr>
          <a:xfrm>
            <a:off x="10701437" y="6299200"/>
            <a:ext cx="728563" cy="193040"/>
          </a:xfrm>
          <a:prstGeom prst="rect">
            <a:avLst/>
          </a:prstGeom>
          <a:noFill/>
          <a:ln/>
        </p:spPr>
        <p:txBody>
          <a:bodyPr wrap="square" lIns="0" tIns="0" rIns="0" bIns="0" rtlCol="0" anchor="t"/>
          <a:lstStyle/>
          <a:p>
            <a:pPr algn="r" indent="0" marL="0">
              <a:lnSpc>
                <a:spcPts val="1200"/>
              </a:lnSpc>
              <a:buNone/>
            </a:pPr>
            <a:r>
              <a:rPr lang="en-US" sz="900" spc="108" kern="0" dirty="0">
                <a:solidFill>
                  <a:srgbClr val="52525B"/>
                </a:solidFill>
                <a:latin typeface="Geist Mono" pitchFamily="34" charset="0"/>
                <a:ea typeface="Geist Mono" pitchFamily="34" charset="-122"/>
                <a:cs typeface="Geist Mono" pitchFamily="34" charset="-120"/>
              </a:rPr>
              <a:t>05 / 11</a:t>
            </a:r>
            <a:endParaRPr lang="en-US" sz="900" dirty="0"/>
          </a:p>
        </p:txBody>
      </p:sp>
      <p:sp>
        <p:nvSpPr>
          <p:cNvPr id="11" name="Text 9"/>
          <p:cNvSpPr txBox="1"/>
          <p:nvPr/>
        </p:nvSpPr>
        <p:spPr>
          <a:xfrm>
            <a:off x="762000" y="2870200"/>
            <a:ext cx="1194891" cy="193040"/>
          </a:xfrm>
          <a:prstGeom prst="rect">
            <a:avLst/>
          </a:prstGeom>
          <a:noFill/>
          <a:ln/>
        </p:spPr>
        <p:txBody>
          <a:bodyPr wrap="square" lIns="0" tIns="0" rIns="0" bIns="0" rtlCol="0" anchor="t"/>
          <a:lstStyle/>
          <a:p>
            <a:pPr algn="l" indent="0" marL="0">
              <a:lnSpc>
                <a:spcPts val="1200"/>
              </a:lnSpc>
              <a:buNone/>
            </a:pPr>
            <a:r>
              <a:rPr lang="en-US" sz="900" spc="144" kern="0" dirty="0">
                <a:solidFill>
                  <a:srgbClr val="8A8A93"/>
                </a:solidFill>
                <a:latin typeface="Geist Mono" pitchFamily="34" charset="0"/>
                <a:ea typeface="Geist Mono" pitchFamily="34" charset="-122"/>
                <a:cs typeface="Geist Mono" pitchFamily="34" charset="-120"/>
              </a:rPr>
              <a:t>APPOINTMENTS</a:t>
            </a:r>
            <a:endParaRPr lang="en-US" sz="900" dirty="0"/>
          </a:p>
        </p:txBody>
      </p:sp>
      <p:sp>
        <p:nvSpPr>
          <p:cNvPr id="12" name="Text 10"/>
          <p:cNvSpPr txBox="1"/>
          <p:nvPr/>
        </p:nvSpPr>
        <p:spPr>
          <a:xfrm>
            <a:off x="762000" y="3048000"/>
            <a:ext cx="5897880" cy="346710"/>
          </a:xfrm>
          <a:prstGeom prst="rect">
            <a:avLst/>
          </a:prstGeom>
          <a:noFill/>
          <a:ln/>
        </p:spPr>
        <p:txBody>
          <a:bodyPr wrap="square" lIns="0" tIns="0" rIns="0" bIns="0" rtlCol="0" anchor="t"/>
          <a:lstStyle/>
          <a:p>
            <a:pPr algn="l" indent="0" marL="0">
              <a:lnSpc>
                <a:spcPts val="2300"/>
              </a:lnSpc>
              <a:buNone/>
            </a:pPr>
            <a:r>
              <a:rPr lang="en-US" sz="2100" spc="-21" kern="0" dirty="0">
                <a:solidFill>
                  <a:srgbClr val="F4F4F5"/>
                </a:solidFill>
                <a:latin typeface="Instrument Serif" pitchFamily="34" charset="0"/>
                <a:ea typeface="Instrument Serif" pitchFamily="34" charset="-122"/>
                <a:cs typeface="Instrument Serif" pitchFamily="34" charset="-120"/>
              </a:rPr>
              <a:t>Books, reschedules and cancels</a:t>
            </a:r>
            <a:endParaRPr lang="en-US" sz="2100" dirty="0"/>
          </a:p>
        </p:txBody>
      </p:sp>
      <p:sp>
        <p:nvSpPr>
          <p:cNvPr id="13" name="Text 11"/>
          <p:cNvSpPr txBox="1"/>
          <p:nvPr/>
        </p:nvSpPr>
        <p:spPr>
          <a:xfrm>
            <a:off x="762000" y="3530600"/>
            <a:ext cx="760512" cy="193040"/>
          </a:xfrm>
          <a:prstGeom prst="rect">
            <a:avLst/>
          </a:prstGeom>
          <a:noFill/>
          <a:ln/>
        </p:spPr>
        <p:txBody>
          <a:bodyPr wrap="square" lIns="0" tIns="0" rIns="0" bIns="0" rtlCol="0" anchor="t"/>
          <a:lstStyle/>
          <a:p>
            <a:pPr algn="l" indent="0" marL="0">
              <a:lnSpc>
                <a:spcPts val="1200"/>
              </a:lnSpc>
              <a:buNone/>
            </a:pPr>
            <a:r>
              <a:rPr lang="en-US" sz="900" spc="144" kern="0" dirty="0">
                <a:solidFill>
                  <a:srgbClr val="8A8A93"/>
                </a:solidFill>
                <a:latin typeface="Geist Mono" pitchFamily="34" charset="0"/>
                <a:ea typeface="Geist Mono" pitchFamily="34" charset="-122"/>
                <a:cs typeface="Geist Mono" pitchFamily="34" charset="-120"/>
              </a:rPr>
              <a:t>SUPPORT</a:t>
            </a:r>
            <a:endParaRPr lang="en-US" sz="900" dirty="0"/>
          </a:p>
        </p:txBody>
      </p:sp>
      <p:sp>
        <p:nvSpPr>
          <p:cNvPr id="14" name="Text 12"/>
          <p:cNvSpPr txBox="1"/>
          <p:nvPr/>
        </p:nvSpPr>
        <p:spPr>
          <a:xfrm>
            <a:off x="762000" y="3708400"/>
            <a:ext cx="5897880" cy="346710"/>
          </a:xfrm>
          <a:prstGeom prst="rect">
            <a:avLst/>
          </a:prstGeom>
          <a:noFill/>
          <a:ln/>
        </p:spPr>
        <p:txBody>
          <a:bodyPr wrap="square" lIns="0" tIns="0" rIns="0" bIns="0" rtlCol="0" anchor="t"/>
          <a:lstStyle/>
          <a:p>
            <a:pPr algn="l" indent="0" marL="0">
              <a:lnSpc>
                <a:spcPts val="2300"/>
              </a:lnSpc>
              <a:buNone/>
            </a:pPr>
            <a:r>
              <a:rPr lang="en-US" sz="2100" spc="-21" kern="0" dirty="0">
                <a:solidFill>
                  <a:srgbClr val="F4F4F5"/>
                </a:solidFill>
                <a:latin typeface="Instrument Serif" pitchFamily="34" charset="0"/>
                <a:ea typeface="Instrument Serif" pitchFamily="34" charset="-122"/>
                <a:cs typeface="Instrument Serif" pitchFamily="34" charset="-120"/>
              </a:rPr>
              <a:t>Opens tickets, captures leads</a:t>
            </a:r>
            <a:endParaRPr lang="en-US" sz="2100" dirty="0"/>
          </a:p>
        </p:txBody>
      </p:sp>
      <p:sp>
        <p:nvSpPr>
          <p:cNvPr id="15" name="Text 13"/>
          <p:cNvSpPr txBox="1"/>
          <p:nvPr/>
        </p:nvSpPr>
        <p:spPr>
          <a:xfrm>
            <a:off x="762000" y="4191000"/>
            <a:ext cx="673695" cy="193040"/>
          </a:xfrm>
          <a:prstGeom prst="rect">
            <a:avLst/>
          </a:prstGeom>
          <a:noFill/>
          <a:ln/>
        </p:spPr>
        <p:txBody>
          <a:bodyPr wrap="square" lIns="0" tIns="0" rIns="0" bIns="0" rtlCol="0" anchor="t"/>
          <a:lstStyle/>
          <a:p>
            <a:pPr algn="l" indent="0" marL="0">
              <a:lnSpc>
                <a:spcPts val="1200"/>
              </a:lnSpc>
              <a:buNone/>
            </a:pPr>
            <a:r>
              <a:rPr lang="en-US" sz="900" spc="144" kern="0" dirty="0">
                <a:solidFill>
                  <a:srgbClr val="8A8A93"/>
                </a:solidFill>
                <a:latin typeface="Geist Mono" pitchFamily="34" charset="0"/>
                <a:ea typeface="Geist Mono" pitchFamily="34" charset="-122"/>
                <a:cs typeface="Geist Mono" pitchFamily="34" charset="-120"/>
              </a:rPr>
              <a:t>ORDERS</a:t>
            </a:r>
            <a:endParaRPr lang="en-US" sz="900" dirty="0"/>
          </a:p>
        </p:txBody>
      </p:sp>
      <p:sp>
        <p:nvSpPr>
          <p:cNvPr id="16" name="Text 14"/>
          <p:cNvSpPr txBox="1"/>
          <p:nvPr/>
        </p:nvSpPr>
        <p:spPr>
          <a:xfrm>
            <a:off x="762000" y="4368800"/>
            <a:ext cx="5897880" cy="346710"/>
          </a:xfrm>
          <a:prstGeom prst="rect">
            <a:avLst/>
          </a:prstGeom>
          <a:noFill/>
          <a:ln/>
        </p:spPr>
        <p:txBody>
          <a:bodyPr wrap="square" lIns="0" tIns="0" rIns="0" bIns="0" rtlCol="0" anchor="t"/>
          <a:lstStyle/>
          <a:p>
            <a:pPr algn="l" indent="0" marL="0">
              <a:lnSpc>
                <a:spcPts val="2300"/>
              </a:lnSpc>
              <a:buNone/>
            </a:pPr>
            <a:r>
              <a:rPr lang="en-US" sz="2100" spc="-21" kern="0" dirty="0">
                <a:solidFill>
                  <a:srgbClr val="F4F4F5"/>
                </a:solidFill>
                <a:latin typeface="Instrument Serif" pitchFamily="34" charset="0"/>
                <a:ea typeface="Instrument Serif" pitchFamily="34" charset="-122"/>
                <a:cs typeface="Instrument Serif" pitchFamily="34" charset="-120"/>
              </a:rPr>
              <a:t>Tracks orders, returns and exchanges</a:t>
            </a:r>
            <a:endParaRPr lang="en-US" sz="2100" dirty="0"/>
          </a:p>
        </p:txBody>
      </p:sp>
      <p:sp>
        <p:nvSpPr>
          <p:cNvPr id="17" name="Text 15"/>
          <p:cNvSpPr txBox="1"/>
          <p:nvPr/>
        </p:nvSpPr>
        <p:spPr>
          <a:xfrm>
            <a:off x="762000" y="4851400"/>
            <a:ext cx="1281708" cy="193040"/>
          </a:xfrm>
          <a:prstGeom prst="rect">
            <a:avLst/>
          </a:prstGeom>
          <a:noFill/>
          <a:ln/>
        </p:spPr>
        <p:txBody>
          <a:bodyPr wrap="square" lIns="0" tIns="0" rIns="0" bIns="0" rtlCol="0" anchor="t"/>
          <a:lstStyle/>
          <a:p>
            <a:pPr algn="l" indent="0" marL="0">
              <a:lnSpc>
                <a:spcPts val="1200"/>
              </a:lnSpc>
              <a:buNone/>
            </a:pPr>
            <a:r>
              <a:rPr lang="en-US" sz="900" spc="144" kern="0" dirty="0">
                <a:solidFill>
                  <a:srgbClr val="8A8A93"/>
                </a:solidFill>
                <a:latin typeface="Geist Mono" pitchFamily="34" charset="0"/>
                <a:ea typeface="Geist Mono" pitchFamily="34" charset="-122"/>
                <a:cs typeface="Geist Mono" pitchFamily="34" charset="-120"/>
              </a:rPr>
              <a:t>CONFIRMATIONS</a:t>
            </a:r>
            <a:endParaRPr lang="en-US" sz="900" dirty="0"/>
          </a:p>
        </p:txBody>
      </p:sp>
      <p:sp>
        <p:nvSpPr>
          <p:cNvPr id="18" name="Text 16"/>
          <p:cNvSpPr txBox="1"/>
          <p:nvPr/>
        </p:nvSpPr>
        <p:spPr>
          <a:xfrm>
            <a:off x="762000" y="5029200"/>
            <a:ext cx="5897880" cy="346710"/>
          </a:xfrm>
          <a:prstGeom prst="rect">
            <a:avLst/>
          </a:prstGeom>
          <a:noFill/>
          <a:ln/>
        </p:spPr>
        <p:txBody>
          <a:bodyPr wrap="square" lIns="0" tIns="0" rIns="0" bIns="0" rtlCol="0" anchor="t"/>
          <a:lstStyle/>
          <a:p>
            <a:pPr algn="l" indent="0" marL="0">
              <a:lnSpc>
                <a:spcPts val="2300"/>
              </a:lnSpc>
              <a:buNone/>
            </a:pPr>
            <a:r>
              <a:rPr lang="en-US" sz="2100" spc="-21" kern="0" dirty="0">
                <a:solidFill>
                  <a:srgbClr val="F4F4F5"/>
                </a:solidFill>
                <a:latin typeface="Instrument Serif" pitchFamily="34" charset="0"/>
                <a:ea typeface="Instrument Serif" pitchFamily="34" charset="-122"/>
                <a:cs typeface="Instrument Serif" pitchFamily="34" charset="-120"/>
              </a:rPr>
              <a:t>Emails a calendar invite for each booking</a:t>
            </a:r>
            <a:endParaRPr lang="en-US" sz="2100" dirty="0"/>
          </a:p>
        </p:txBody>
      </p:sp>
      <p:sp>
        <p:nvSpPr>
          <p:cNvPr id="19" name="Text 17"/>
          <p:cNvSpPr txBox="1"/>
          <p:nvPr/>
        </p:nvSpPr>
        <p:spPr>
          <a:xfrm>
            <a:off x="762000" y="5511800"/>
            <a:ext cx="1021159" cy="193040"/>
          </a:xfrm>
          <a:prstGeom prst="rect">
            <a:avLst/>
          </a:prstGeom>
          <a:noFill/>
          <a:ln/>
        </p:spPr>
        <p:txBody>
          <a:bodyPr wrap="square" lIns="0" tIns="0" rIns="0" bIns="0" rtlCol="0" anchor="t"/>
          <a:lstStyle/>
          <a:p>
            <a:pPr algn="l" indent="0" marL="0">
              <a:lnSpc>
                <a:spcPts val="1200"/>
              </a:lnSpc>
              <a:buNone/>
            </a:pPr>
            <a:r>
              <a:rPr lang="en-US" sz="900" spc="144" kern="0" dirty="0">
                <a:solidFill>
                  <a:srgbClr val="8A8A93"/>
                </a:solidFill>
                <a:latin typeface="Geist Mono" pitchFamily="34" charset="0"/>
                <a:ea typeface="Geist Mono" pitchFamily="34" charset="-122"/>
                <a:cs typeface="Geist Mono" pitchFamily="34" charset="-120"/>
              </a:rPr>
              <a:t>FOLLOW UPS</a:t>
            </a:r>
            <a:endParaRPr lang="en-US" sz="900" dirty="0"/>
          </a:p>
        </p:txBody>
      </p:sp>
      <p:sp>
        <p:nvSpPr>
          <p:cNvPr id="20" name="Text 18"/>
          <p:cNvSpPr txBox="1"/>
          <p:nvPr/>
        </p:nvSpPr>
        <p:spPr>
          <a:xfrm>
            <a:off x="762000" y="5689600"/>
            <a:ext cx="5897880" cy="346710"/>
          </a:xfrm>
          <a:prstGeom prst="rect">
            <a:avLst/>
          </a:prstGeom>
          <a:noFill/>
          <a:ln/>
        </p:spPr>
        <p:txBody>
          <a:bodyPr wrap="square" lIns="0" tIns="0" rIns="0" bIns="0" rtlCol="0" anchor="t"/>
          <a:lstStyle/>
          <a:p>
            <a:pPr algn="l" indent="0" marL="0">
              <a:lnSpc>
                <a:spcPts val="2300"/>
              </a:lnSpc>
              <a:buNone/>
            </a:pPr>
            <a:r>
              <a:rPr lang="en-US" sz="2100" spc="-21" kern="0" dirty="0">
                <a:solidFill>
                  <a:srgbClr val="F4F4F5"/>
                </a:solidFill>
                <a:latin typeface="Instrument Serif" pitchFamily="34" charset="0"/>
                <a:ea typeface="Instrument Serif" pitchFamily="34" charset="-122"/>
                <a:cs typeface="Instrument Serif" pitchFamily="34" charset="-120"/>
              </a:rPr>
              <a:t>Reminders, nurture, abandoned chat recovery</a:t>
            </a:r>
            <a:endParaRPr lang="en-US" sz="2100" dirty="0"/>
          </a:p>
        </p:txBody>
      </p:sp>
      <p:sp>
        <p:nvSpPr>
          <p:cNvPr id="21" name="Text 19"/>
          <p:cNvSpPr txBox="1"/>
          <p:nvPr/>
        </p:nvSpPr>
        <p:spPr>
          <a:xfrm>
            <a:off x="6807200" y="3175000"/>
            <a:ext cx="4636008" cy="444500"/>
          </a:xfrm>
          <a:prstGeom prst="rect">
            <a:avLst/>
          </a:prstGeom>
          <a:noFill/>
          <a:ln/>
        </p:spPr>
        <p:txBody>
          <a:bodyPr wrap="square" lIns="0" tIns="0" rIns="0" bIns="0" rtlCol="0" anchor="t"/>
          <a:lstStyle/>
          <a:p>
            <a:pPr algn="l" indent="0" marL="0">
              <a:lnSpc>
                <a:spcPts val="1500"/>
              </a:lnSpc>
              <a:buNone/>
            </a:pPr>
            <a:r>
              <a:rPr lang="en-US" sz="950" spc="10" kern="0" dirty="0">
                <a:solidFill>
                  <a:srgbClr val="FF7A30"/>
                </a:solidFill>
                <a:latin typeface="Geist Mono" pitchFamily="34" charset="0"/>
                <a:ea typeface="Geist Mono" pitchFamily="34" charset="-122"/>
                <a:cs typeface="Geist Mono" pitchFamily="34" charset="-120"/>
              </a:rPr>
              <a:t>UPDATE</a:t>
            </a:r>
            <a:pPr algn="l" indent="0" marL="0">
              <a:lnSpc>
                <a:spcPts val="1500"/>
              </a:lnSpc>
              <a:buNone/>
            </a:pPr>
            <a:r>
              <a:rPr lang="en-US" sz="950" spc="10" kern="0" dirty="0">
                <a:solidFill>
                  <a:srgbClr val="D4D4D8"/>
                </a:solidFill>
                <a:latin typeface="Geist Mono" pitchFamily="34" charset="0"/>
                <a:ea typeface="Geist Mono" pitchFamily="34" charset="-122"/>
                <a:cs typeface="Geist Mono" pitchFamily="34" charset="-120"/>
              </a:rPr>
              <a:t> slots </a:t>
            </a:r>
            <a:pPr algn="l" indent="0" marL="0">
              <a:lnSpc>
                <a:spcPts val="1500"/>
              </a:lnSpc>
              <a:buNone/>
            </a:pPr>
            <a:r>
              <a:rPr lang="en-US" sz="950" spc="10" kern="0" dirty="0">
                <a:solidFill>
                  <a:srgbClr val="FF7A30"/>
                </a:solidFill>
                <a:latin typeface="Geist Mono" pitchFamily="34" charset="0"/>
                <a:ea typeface="Geist Mono" pitchFamily="34" charset="-122"/>
                <a:cs typeface="Geist Mono" pitchFamily="34" charset="-120"/>
              </a:rPr>
              <a:t>SET</a:t>
            </a:r>
            <a:pPr algn="l" indent="0" marL="0">
              <a:lnSpc>
                <a:spcPts val="1500"/>
              </a:lnSpc>
              <a:buNone/>
            </a:pPr>
            <a:r>
              <a:rPr lang="en-US" sz="950" spc="10" kern="0" dirty="0">
                <a:solidFill>
                  <a:srgbClr val="D4D4D8"/>
                </a:solidFill>
                <a:latin typeface="Geist Mono" pitchFamily="34" charset="0"/>
                <a:ea typeface="Geist Mono" pitchFamily="34" charset="-122"/>
                <a:cs typeface="Geist Mono" pitchFamily="34" charset="-120"/>
              </a:rPr>
              <a:t> status = 'booked'</a:t>
            </a:r>
            <a:br/>
            <a:pPr algn="l" indent="0" marL="0">
              <a:lnSpc>
                <a:spcPts val="1500"/>
              </a:lnSpc>
              <a:buNone/>
            </a:pPr>
            <a:r>
              <a:rPr lang="en-US" sz="950" spc="10" kern="0" dirty="0">
                <a:solidFill>
                  <a:srgbClr val="FF7A30"/>
                </a:solidFill>
                <a:latin typeface="Geist Mono" pitchFamily="34" charset="0"/>
                <a:ea typeface="Geist Mono" pitchFamily="34" charset="-122"/>
                <a:cs typeface="Geist Mono" pitchFamily="34" charset="-120"/>
              </a:rPr>
              <a:t>WHERE</a:t>
            </a:r>
            <a:pPr algn="l" indent="0" marL="0">
              <a:lnSpc>
                <a:spcPts val="1500"/>
              </a:lnSpc>
              <a:buNone/>
            </a:pPr>
            <a:r>
              <a:rPr lang="en-US" sz="950" spc="10" kern="0" dirty="0">
                <a:solidFill>
                  <a:srgbClr val="D4D4D8"/>
                </a:solidFill>
                <a:latin typeface="Geist Mono" pitchFamily="34" charset="0"/>
                <a:ea typeface="Geist Mono" pitchFamily="34" charset="-122"/>
                <a:cs typeface="Geist Mono" pitchFamily="34" charset="-120"/>
              </a:rPr>
              <a:t> id = $slot </a:t>
            </a:r>
            <a:pPr algn="l" indent="0" marL="0">
              <a:lnSpc>
                <a:spcPts val="1500"/>
              </a:lnSpc>
              <a:buNone/>
            </a:pPr>
            <a:r>
              <a:rPr lang="en-US" sz="950" spc="10" kern="0" dirty="0">
                <a:solidFill>
                  <a:srgbClr val="FF7A30"/>
                </a:solidFill>
                <a:latin typeface="Geist Mono" pitchFamily="34" charset="0"/>
                <a:ea typeface="Geist Mono" pitchFamily="34" charset="-122"/>
                <a:cs typeface="Geist Mono" pitchFamily="34" charset="-120"/>
              </a:rPr>
              <a:t>AND</a:t>
            </a:r>
            <a:pPr algn="l" indent="0" marL="0">
              <a:lnSpc>
                <a:spcPts val="1500"/>
              </a:lnSpc>
              <a:buNone/>
            </a:pPr>
            <a:r>
              <a:rPr lang="en-US" sz="950" spc="10" kern="0" dirty="0">
                <a:solidFill>
                  <a:srgbClr val="D4D4D8"/>
                </a:solidFill>
                <a:latin typeface="Geist Mono" pitchFamily="34" charset="0"/>
                <a:ea typeface="Geist Mono" pitchFamily="34" charset="-122"/>
                <a:cs typeface="Geist Mono" pitchFamily="34" charset="-120"/>
              </a:rPr>
              <a:t> status = 'open'</a:t>
            </a:r>
            <a:endParaRPr lang="en-US" sz="950" dirty="0"/>
          </a:p>
        </p:txBody>
      </p:sp>
      <p:sp>
        <p:nvSpPr>
          <p:cNvPr id="22" name="Text 20"/>
          <p:cNvSpPr txBox="1"/>
          <p:nvPr/>
        </p:nvSpPr>
        <p:spPr>
          <a:xfrm>
            <a:off x="6985000" y="3873500"/>
            <a:ext cx="1021159" cy="193040"/>
          </a:xfrm>
          <a:prstGeom prst="rect">
            <a:avLst/>
          </a:prstGeom>
          <a:noFill/>
          <a:ln/>
        </p:spPr>
        <p:txBody>
          <a:bodyPr wrap="square" lIns="0" tIns="0" rIns="0" bIns="0" rtlCol="0" anchor="t"/>
          <a:lstStyle/>
          <a:p>
            <a:pPr algn="l" indent="0" marL="0">
              <a:lnSpc>
                <a:spcPts val="1200"/>
              </a:lnSpc>
              <a:buNone/>
            </a:pPr>
            <a:r>
              <a:rPr lang="en-US" sz="900" spc="144" kern="0" dirty="0">
                <a:solidFill>
                  <a:srgbClr val="FF7A30"/>
                </a:solidFill>
                <a:latin typeface="Geist Mono" pitchFamily="34" charset="0"/>
                <a:ea typeface="Geist Mono" pitchFamily="34" charset="-122"/>
                <a:cs typeface="Geist Mono" pitchFamily="34" charset="-120"/>
              </a:rPr>
              <a:t>CUSTOMER A</a:t>
            </a:r>
            <a:endParaRPr lang="en-US" sz="900" dirty="0"/>
          </a:p>
        </p:txBody>
      </p:sp>
      <p:sp>
        <p:nvSpPr>
          <p:cNvPr id="23" name="Text 21"/>
          <p:cNvSpPr txBox="1"/>
          <p:nvPr/>
        </p:nvSpPr>
        <p:spPr>
          <a:xfrm>
            <a:off x="6985000" y="4064000"/>
            <a:ext cx="4251960" cy="276860"/>
          </a:xfrm>
          <a:prstGeom prst="rect">
            <a:avLst/>
          </a:prstGeom>
          <a:noFill/>
          <a:ln/>
        </p:spPr>
        <p:txBody>
          <a:bodyPr wrap="square" lIns="0" tIns="0" rIns="0" bIns="0" rtlCol="0" anchor="t"/>
          <a:lstStyle/>
          <a:p>
            <a:pPr algn="l" indent="0" marL="0">
              <a:lnSpc>
                <a:spcPts val="1800"/>
              </a:lnSpc>
              <a:buNone/>
            </a:pPr>
            <a:r>
              <a:rPr lang="en-US" sz="1300" dirty="0">
                <a:solidFill>
                  <a:srgbClr val="F4F4F5"/>
                </a:solidFill>
                <a:latin typeface="Geist" pitchFamily="34" charset="0"/>
                <a:ea typeface="Geist" pitchFamily="34" charset="-122"/>
                <a:cs typeface="Geist" pitchFamily="34" charset="-120"/>
              </a:rPr>
              <a:t>1 row updated. Booked, email sent.</a:t>
            </a:r>
            <a:endParaRPr lang="en-US" sz="1300" dirty="0"/>
          </a:p>
        </p:txBody>
      </p:sp>
      <p:sp>
        <p:nvSpPr>
          <p:cNvPr id="24" name="Text 22"/>
          <p:cNvSpPr txBox="1"/>
          <p:nvPr/>
        </p:nvSpPr>
        <p:spPr>
          <a:xfrm>
            <a:off x="6985000" y="4610100"/>
            <a:ext cx="1021159" cy="193040"/>
          </a:xfrm>
          <a:prstGeom prst="rect">
            <a:avLst/>
          </a:prstGeom>
          <a:noFill/>
          <a:ln/>
        </p:spPr>
        <p:txBody>
          <a:bodyPr wrap="square" lIns="0" tIns="0" rIns="0" bIns="0" rtlCol="0" anchor="t"/>
          <a:lstStyle/>
          <a:p>
            <a:pPr algn="l" indent="0" marL="0">
              <a:lnSpc>
                <a:spcPts val="1200"/>
              </a:lnSpc>
              <a:buNone/>
            </a:pPr>
            <a:r>
              <a:rPr lang="en-US" sz="900" spc="144" kern="0" dirty="0">
                <a:solidFill>
                  <a:srgbClr val="8A8A93"/>
                </a:solidFill>
                <a:latin typeface="Geist Mono" pitchFamily="34" charset="0"/>
                <a:ea typeface="Geist Mono" pitchFamily="34" charset="-122"/>
                <a:cs typeface="Geist Mono" pitchFamily="34" charset="-120"/>
              </a:rPr>
              <a:t>CUSTOMER B</a:t>
            </a:r>
            <a:endParaRPr lang="en-US" sz="900" dirty="0"/>
          </a:p>
        </p:txBody>
      </p:sp>
      <p:sp>
        <p:nvSpPr>
          <p:cNvPr id="25" name="Text 23"/>
          <p:cNvSpPr txBox="1"/>
          <p:nvPr/>
        </p:nvSpPr>
        <p:spPr>
          <a:xfrm>
            <a:off x="6985000" y="4800600"/>
            <a:ext cx="4251960" cy="276860"/>
          </a:xfrm>
          <a:prstGeom prst="rect">
            <a:avLst/>
          </a:prstGeom>
          <a:noFill/>
          <a:ln/>
        </p:spPr>
        <p:txBody>
          <a:bodyPr wrap="square" lIns="0" tIns="0" rIns="0" bIns="0" rtlCol="0" anchor="t"/>
          <a:lstStyle/>
          <a:p>
            <a:pPr algn="l" indent="0" marL="0">
              <a:lnSpc>
                <a:spcPts val="1800"/>
              </a:lnSpc>
              <a:buNone/>
            </a:pPr>
            <a:r>
              <a:rPr lang="en-US" sz="1300" dirty="0">
                <a:solidFill>
                  <a:srgbClr val="A1A1AA"/>
                </a:solidFill>
                <a:latin typeface="Geist" pitchFamily="34" charset="0"/>
                <a:ea typeface="Geist" pitchFamily="34" charset="-122"/>
                <a:cs typeface="Geist" pitchFamily="34" charset="-120"/>
              </a:rPr>
              <a:t>0 rows. “That slot was just taken,” plus fresh times.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Slide artwork" descr="Onboarding slide artwork">    </p:cNvPr>
          <p:cNvPicPr>
            <a:picLocks noChangeAspect="1"/>
          </p:cNvPicPr>
          <p:nvPr/>
        </p:nvPicPr>
        <p:blipFill>
          <a:blip r:embed="rId1"/>
          <a:stretch>
            <a:fillRect/>
          </a:stretch>
        </p:blipFill>
        <p:spPr>
          <a:xfrm>
            <a:off x="0" y="0"/>
            <a:ext cx="12191695" cy="6858000"/>
          </a:xfrm>
          <a:prstGeom prst="rect">
            <a:avLst/>
          </a:prstGeom>
        </p:spPr>
      </p:pic>
      <p:sp>
        <p:nvSpPr>
          <p:cNvPr id="3" name="Text 1"/>
          <p:cNvSpPr txBox="1"/>
          <p:nvPr/>
        </p:nvSpPr>
        <p:spPr>
          <a:xfrm>
            <a:off x="1066800" y="457200"/>
            <a:ext cx="601464" cy="304800"/>
          </a:xfrm>
          <a:prstGeom prst="rect">
            <a:avLst/>
          </a:prstGeom>
          <a:noFill/>
          <a:ln/>
        </p:spPr>
        <p:txBody>
          <a:bodyPr wrap="square" lIns="0" tIns="0" rIns="0" bIns="0" rtlCol="0" anchor="t"/>
          <a:lstStyle/>
          <a:p>
            <a:pPr algn="l" indent="0" marL="0">
              <a:lnSpc>
                <a:spcPts val="2000"/>
              </a:lnSpc>
              <a:buNone/>
            </a:pPr>
            <a:r>
              <a:rPr lang="en-US" sz="1800" dirty="0">
                <a:solidFill>
                  <a:srgbClr val="F4F4F5"/>
                </a:solidFill>
                <a:latin typeface="Instrument Serif" pitchFamily="34" charset="0"/>
                <a:ea typeface="Instrument Serif" pitchFamily="34" charset="-122"/>
                <a:cs typeface="Instrument Serif" pitchFamily="34" charset="-120"/>
              </a:rPr>
              <a:t>Suryo</a:t>
            </a:r>
            <a:endParaRPr lang="en-US" sz="1800" dirty="0"/>
          </a:p>
        </p:txBody>
      </p:sp>
      <p:sp>
        <p:nvSpPr>
          <p:cNvPr id="4" name="Text 2"/>
          <p:cNvSpPr txBox="1"/>
          <p:nvPr/>
        </p:nvSpPr>
        <p:spPr>
          <a:xfrm>
            <a:off x="9974560" y="520700"/>
            <a:ext cx="1455440" cy="193040"/>
          </a:xfrm>
          <a:prstGeom prst="rect">
            <a:avLst/>
          </a:prstGeom>
          <a:noFill/>
          <a:ln/>
        </p:spPr>
        <p:txBody>
          <a:bodyPr wrap="square" lIns="0" tIns="0" rIns="0" bIns="0" rtlCol="0" anchor="t"/>
          <a:lstStyle/>
          <a:p>
            <a:pPr algn="r" indent="0" marL="0">
              <a:lnSpc>
                <a:spcPts val="1200"/>
              </a:lnSpc>
              <a:buNone/>
            </a:pPr>
            <a:r>
              <a:rPr lang="en-US" sz="900" spc="144" kern="0" dirty="0">
                <a:solidFill>
                  <a:srgbClr val="8A8A93"/>
                </a:solidFill>
                <a:latin typeface="Geist Mono" pitchFamily="34" charset="0"/>
                <a:ea typeface="Geist Mono" pitchFamily="34" charset="-122"/>
                <a:cs typeface="Geist Mono" pitchFamily="34" charset="-120"/>
              </a:rPr>
              <a:t>05 · ONBOARDING</a:t>
            </a:r>
            <a:endParaRPr lang="en-US" sz="900" dirty="0"/>
          </a:p>
        </p:txBody>
      </p:sp>
      <p:sp>
        <p:nvSpPr>
          <p:cNvPr id="5" name="Text 3"/>
          <p:cNvSpPr txBox="1"/>
          <p:nvPr/>
        </p:nvSpPr>
        <p:spPr>
          <a:xfrm>
            <a:off x="762000" y="1244600"/>
            <a:ext cx="6583680" cy="1310640"/>
          </a:xfrm>
          <a:prstGeom prst="rect">
            <a:avLst/>
          </a:prstGeom>
          <a:noFill/>
          <a:ln/>
        </p:spPr>
        <p:txBody>
          <a:bodyPr wrap="square" lIns="0" tIns="0" rIns="0" bIns="0" rtlCol="0" anchor="t"/>
          <a:lstStyle/>
          <a:p>
            <a:pPr algn="l" indent="0" marL="0">
              <a:lnSpc>
                <a:spcPts val="4600"/>
              </a:lnSpc>
              <a:buNone/>
            </a:pPr>
            <a:r>
              <a:rPr lang="en-US" sz="4400" spc="-53" kern="0" dirty="0">
                <a:solidFill>
                  <a:srgbClr val="F4F4F5"/>
                </a:solidFill>
                <a:latin typeface="Instrument Serif" pitchFamily="34" charset="0"/>
                <a:ea typeface="Instrument Serif" pitchFamily="34" charset="-122"/>
                <a:cs typeface="Instrument Serif" pitchFamily="34" charset="-120"/>
              </a:rPr>
              <a:t>Any business, live</a:t>
            </a:r>
            <a:br/>
            <a:pPr algn="l" indent="0" marL="0">
              <a:lnSpc>
                <a:spcPts val="4600"/>
              </a:lnSpc>
              <a:buNone/>
            </a:pPr>
            <a:r>
              <a:rPr lang="en-US" sz="4400" i="1" spc="-53" kern="0" dirty="0">
                <a:solidFill>
                  <a:srgbClr val="FF7A30"/>
                </a:solidFill>
                <a:latin typeface="Instrument Serif" pitchFamily="34" charset="0"/>
                <a:ea typeface="Instrument Serif" pitchFamily="34" charset="-122"/>
                <a:cs typeface="Instrument Serif" pitchFamily="34" charset="-120"/>
              </a:rPr>
              <a:t>in under a minute.</a:t>
            </a:r>
            <a:endParaRPr lang="en-US" sz="4400" dirty="0"/>
          </a:p>
        </p:txBody>
      </p:sp>
      <p:sp>
        <p:nvSpPr>
          <p:cNvPr id="6" name="Text 4"/>
          <p:cNvSpPr txBox="1"/>
          <p:nvPr/>
        </p:nvSpPr>
        <p:spPr>
          <a:xfrm>
            <a:off x="762000" y="2590800"/>
            <a:ext cx="5897880" cy="612140"/>
          </a:xfrm>
          <a:prstGeom prst="rect">
            <a:avLst/>
          </a:prstGeom>
          <a:noFill/>
          <a:ln/>
        </p:spPr>
        <p:txBody>
          <a:bodyPr wrap="square" lIns="0" tIns="0" rIns="0" bIns="0" rtlCol="0" anchor="t"/>
          <a:lstStyle/>
          <a:p>
            <a:pPr algn="l" indent="0" marL="0">
              <a:lnSpc>
                <a:spcPts val="2100"/>
              </a:lnSpc>
              <a:buNone/>
            </a:pPr>
            <a:r>
              <a:rPr lang="en-US" sz="1500" dirty="0">
                <a:solidFill>
                  <a:srgbClr val="A1A1AA"/>
                </a:solidFill>
                <a:latin typeface="Geist" pitchFamily="34" charset="0"/>
                <a:ea typeface="Geist" pitchFamily="34" charset="-122"/>
                <a:cs typeface="Geist" pitchFamily="34" charset="-120"/>
              </a:rPr>
              <a:t>Paste a URL, or drop in the PDFs, Word docs and price sheets</a:t>
            </a:r>
            <a:br/>
            <a:pPr algn="l" indent="0" marL="0">
              <a:lnSpc>
                <a:spcPts val="2100"/>
              </a:lnSpc>
              <a:buNone/>
            </a:pPr>
            <a:r>
              <a:rPr lang="en-US" sz="1500" dirty="0">
                <a:solidFill>
                  <a:srgbClr val="A1A1AA"/>
                </a:solidFill>
                <a:latin typeface="Geist" pitchFamily="34" charset="0"/>
                <a:ea typeface="Geist" pitchFamily="34" charset="-122"/>
                <a:cs typeface="Geist" pitchFamily="34" charset="-120"/>
              </a:rPr>
              <a:t>the business already has.</a:t>
            </a:r>
            <a:endParaRPr lang="en-US" sz="1500" dirty="0"/>
          </a:p>
        </p:txBody>
      </p:sp>
      <p:sp>
        <p:nvSpPr>
          <p:cNvPr id="7" name="Text 5"/>
          <p:cNvSpPr txBox="1"/>
          <p:nvPr/>
        </p:nvSpPr>
        <p:spPr>
          <a:xfrm>
            <a:off x="762000" y="3429000"/>
            <a:ext cx="2814566" cy="193040"/>
          </a:xfrm>
          <a:prstGeom prst="rect">
            <a:avLst/>
          </a:prstGeom>
          <a:noFill/>
          <a:ln/>
        </p:spPr>
        <p:txBody>
          <a:bodyPr wrap="square" lIns="0" tIns="0" rIns="0" bIns="0" rtlCol="0" anchor="t"/>
          <a:lstStyle/>
          <a:p>
            <a:pPr algn="l" indent="0" marL="0">
              <a:lnSpc>
                <a:spcPts val="1200"/>
              </a:lnSpc>
              <a:buNone/>
            </a:pPr>
            <a:r>
              <a:rPr lang="en-US" sz="900" spc="144" kern="0" dirty="0">
                <a:solidFill>
                  <a:srgbClr val="8A8A93"/>
                </a:solidFill>
                <a:latin typeface="Geist Mono" pitchFamily="34" charset="0"/>
                <a:ea typeface="Geist Mono" pitchFamily="34" charset="-122"/>
                <a:cs typeface="Geist Mono" pitchFamily="34" charset="-120"/>
              </a:rPr>
              <a:t>TIME TO A LIVE AGENT, MEASURED</a:t>
            </a:r>
            <a:endParaRPr lang="en-US" sz="900" dirty="0"/>
          </a:p>
        </p:txBody>
      </p:sp>
      <p:sp>
        <p:nvSpPr>
          <p:cNvPr id="8" name="Text 6"/>
          <p:cNvSpPr txBox="1"/>
          <p:nvPr/>
        </p:nvSpPr>
        <p:spPr>
          <a:xfrm>
            <a:off x="4737100" y="3429000"/>
            <a:ext cx="1422400" cy="193040"/>
          </a:xfrm>
          <a:prstGeom prst="rect">
            <a:avLst/>
          </a:prstGeom>
          <a:noFill/>
          <a:ln/>
        </p:spPr>
        <p:txBody>
          <a:bodyPr wrap="square" lIns="0" tIns="0" rIns="0" bIns="0" rtlCol="0" anchor="t"/>
          <a:lstStyle/>
          <a:p>
            <a:pPr algn="r" indent="0" marL="0">
              <a:lnSpc>
                <a:spcPts val="1200"/>
              </a:lnSpc>
              <a:buNone/>
            </a:pPr>
            <a:r>
              <a:rPr lang="en-US" sz="900" spc="144" kern="0" dirty="0">
                <a:solidFill>
                  <a:srgbClr val="71717A"/>
                </a:solidFill>
                <a:latin typeface="Geist Mono" pitchFamily="34" charset="0"/>
                <a:ea typeface="Geist Mono" pitchFamily="34" charset="-122"/>
                <a:cs typeface="Geist Mono" pitchFamily="34" charset="-120"/>
              </a:rPr>
              <a:t>SCALE: 60 S</a:t>
            </a:r>
            <a:endParaRPr lang="en-US" sz="900" dirty="0"/>
          </a:p>
        </p:txBody>
      </p:sp>
      <p:sp>
        <p:nvSpPr>
          <p:cNvPr id="9" name="Text 7"/>
          <p:cNvSpPr txBox="1"/>
          <p:nvPr/>
        </p:nvSpPr>
        <p:spPr>
          <a:xfrm>
            <a:off x="6985000" y="5829300"/>
            <a:ext cx="4800600" cy="220980"/>
          </a:xfrm>
          <a:prstGeom prst="rect">
            <a:avLst/>
          </a:prstGeom>
          <a:noFill/>
          <a:ln/>
        </p:spPr>
        <p:txBody>
          <a:bodyPr wrap="square" lIns="0" tIns="0" rIns="0" bIns="0" rtlCol="0" anchor="t"/>
          <a:lstStyle/>
          <a:p>
            <a:pPr algn="l" indent="0" marL="0">
              <a:lnSpc>
                <a:spcPts val="1400"/>
              </a:lnSpc>
              <a:buNone/>
            </a:pPr>
            <a:r>
              <a:rPr lang="en-US" sz="1000" dirty="0">
                <a:solidFill>
                  <a:srgbClr val="8A8A93"/>
                </a:solidFill>
                <a:latin typeface="Geist" pitchFamily="34" charset="0"/>
                <a:ea typeface="Geist" pitchFamily="34" charset="-122"/>
                <a:cs typeface="Geist" pitchFamily="34" charset="-120"/>
              </a:rPr>
              <a:t>Pulse Physio Studio, a fictional clinic, built from one PDF and one Word file.</a:t>
            </a:r>
            <a:endParaRPr lang="en-US" sz="1000" dirty="0"/>
          </a:p>
        </p:txBody>
      </p:sp>
      <p:sp>
        <p:nvSpPr>
          <p:cNvPr id="10" name="Text 8"/>
          <p:cNvSpPr txBox="1"/>
          <p:nvPr/>
        </p:nvSpPr>
        <p:spPr>
          <a:xfrm>
            <a:off x="10701437" y="6299200"/>
            <a:ext cx="728563" cy="193040"/>
          </a:xfrm>
          <a:prstGeom prst="rect">
            <a:avLst/>
          </a:prstGeom>
          <a:noFill/>
          <a:ln/>
        </p:spPr>
        <p:txBody>
          <a:bodyPr wrap="square" lIns="0" tIns="0" rIns="0" bIns="0" rtlCol="0" anchor="t"/>
          <a:lstStyle/>
          <a:p>
            <a:pPr algn="r" indent="0" marL="0">
              <a:lnSpc>
                <a:spcPts val="1200"/>
              </a:lnSpc>
              <a:buNone/>
            </a:pPr>
            <a:r>
              <a:rPr lang="en-US" sz="900" spc="108" kern="0" dirty="0">
                <a:solidFill>
                  <a:srgbClr val="52525B"/>
                </a:solidFill>
                <a:latin typeface="Geist Mono" pitchFamily="34" charset="0"/>
                <a:ea typeface="Geist Mono" pitchFamily="34" charset="-122"/>
                <a:cs typeface="Geist Mono" pitchFamily="34" charset="-120"/>
              </a:rPr>
              <a:t>06 / 11</a:t>
            </a:r>
            <a:endParaRPr lang="en-US" sz="900" dirty="0"/>
          </a:p>
        </p:txBody>
      </p:sp>
      <p:sp>
        <p:nvSpPr>
          <p:cNvPr id="11" name="Text 9"/>
          <p:cNvSpPr txBox="1"/>
          <p:nvPr/>
        </p:nvSpPr>
        <p:spPr>
          <a:xfrm>
            <a:off x="762000" y="3708400"/>
            <a:ext cx="2537460" cy="276860"/>
          </a:xfrm>
          <a:prstGeom prst="rect">
            <a:avLst/>
          </a:prstGeom>
          <a:noFill/>
          <a:ln/>
        </p:spPr>
        <p:txBody>
          <a:bodyPr wrap="square" lIns="0" tIns="0" rIns="0" bIns="0" rtlCol="0" anchor="t"/>
          <a:lstStyle/>
          <a:p>
            <a:pPr algn="l" indent="0" marL="0">
              <a:lnSpc>
                <a:spcPts val="1800"/>
              </a:lnSpc>
              <a:buNone/>
            </a:pPr>
            <a:r>
              <a:rPr lang="en-US" sz="1300" dirty="0">
                <a:solidFill>
                  <a:srgbClr val="F4F4F5"/>
                </a:solidFill>
                <a:latin typeface="Geist" pitchFamily="34" charset="0"/>
                <a:ea typeface="Geist" pitchFamily="34" charset="-122"/>
                <a:cs typeface="Geist" pitchFamily="34" charset="-120"/>
              </a:rPr>
              <a:t>PDF brochure + Word FAQ</a:t>
            </a:r>
            <a:endParaRPr lang="en-US" sz="1300" dirty="0"/>
          </a:p>
        </p:txBody>
      </p:sp>
      <p:sp>
        <p:nvSpPr>
          <p:cNvPr id="12" name="Text 10"/>
          <p:cNvSpPr txBox="1"/>
          <p:nvPr/>
        </p:nvSpPr>
        <p:spPr>
          <a:xfrm>
            <a:off x="3175000" y="3708400"/>
            <a:ext cx="914400" cy="276860"/>
          </a:xfrm>
          <a:prstGeom prst="rect">
            <a:avLst/>
          </a:prstGeom>
          <a:noFill/>
          <a:ln/>
        </p:spPr>
        <p:txBody>
          <a:bodyPr wrap="square" lIns="0" tIns="0" rIns="0" bIns="0" rtlCol="0" anchor="t"/>
          <a:lstStyle/>
          <a:p>
            <a:pPr algn="l" indent="0" marL="0">
              <a:lnSpc>
                <a:spcPts val="1800"/>
              </a:lnSpc>
              <a:buNone/>
            </a:pPr>
            <a:r>
              <a:rPr lang="en-US" sz="1300" dirty="0">
                <a:solidFill>
                  <a:srgbClr val="FF7A30"/>
                </a:solidFill>
                <a:latin typeface="Geist Mono" pitchFamily="34" charset="0"/>
                <a:ea typeface="Geist Mono" pitchFamily="34" charset="-122"/>
                <a:cs typeface="Geist Mono" pitchFamily="34" charset="-120"/>
              </a:rPr>
              <a:t>10.7 s</a:t>
            </a:r>
            <a:endParaRPr lang="en-US" sz="1300" dirty="0"/>
          </a:p>
        </p:txBody>
      </p:sp>
      <p:sp>
        <p:nvSpPr>
          <p:cNvPr id="13" name="Text 11"/>
          <p:cNvSpPr txBox="1"/>
          <p:nvPr/>
        </p:nvSpPr>
        <p:spPr>
          <a:xfrm>
            <a:off x="762000" y="4140200"/>
            <a:ext cx="2537460" cy="276860"/>
          </a:xfrm>
          <a:prstGeom prst="rect">
            <a:avLst/>
          </a:prstGeom>
          <a:noFill/>
          <a:ln/>
        </p:spPr>
        <p:txBody>
          <a:bodyPr wrap="square" lIns="0" tIns="0" rIns="0" bIns="0" rtlCol="0" anchor="t"/>
          <a:lstStyle/>
          <a:p>
            <a:pPr algn="l" indent="0" marL="0">
              <a:lnSpc>
                <a:spcPts val="1800"/>
              </a:lnSpc>
              <a:buNone/>
            </a:pPr>
            <a:r>
              <a:rPr lang="en-US" sz="1300" dirty="0">
                <a:solidFill>
                  <a:srgbClr val="A1A1AA"/>
                </a:solidFill>
                <a:latin typeface="Geist" pitchFamily="34" charset="0"/>
                <a:ea typeface="Geist" pitchFamily="34" charset="-122"/>
                <a:cs typeface="Geist" pitchFamily="34" charset="-120"/>
              </a:rPr>
              <a:t>slowbroslabs.com</a:t>
            </a:r>
            <a:endParaRPr lang="en-US" sz="1300" dirty="0"/>
          </a:p>
        </p:txBody>
      </p:sp>
      <p:sp>
        <p:nvSpPr>
          <p:cNvPr id="14" name="Text 12"/>
          <p:cNvSpPr txBox="1"/>
          <p:nvPr/>
        </p:nvSpPr>
        <p:spPr>
          <a:xfrm>
            <a:off x="3175000" y="4140200"/>
            <a:ext cx="914400" cy="276860"/>
          </a:xfrm>
          <a:prstGeom prst="rect">
            <a:avLst/>
          </a:prstGeom>
          <a:noFill/>
          <a:ln/>
        </p:spPr>
        <p:txBody>
          <a:bodyPr wrap="square" lIns="0" tIns="0" rIns="0" bIns="0" rtlCol="0" anchor="t"/>
          <a:lstStyle/>
          <a:p>
            <a:pPr algn="l" indent="0" marL="0">
              <a:lnSpc>
                <a:spcPts val="1800"/>
              </a:lnSpc>
              <a:buNone/>
            </a:pPr>
            <a:r>
              <a:rPr lang="en-US" sz="1300" dirty="0">
                <a:solidFill>
                  <a:srgbClr val="D4D4D8"/>
                </a:solidFill>
                <a:latin typeface="Geist Mono" pitchFamily="34" charset="0"/>
                <a:ea typeface="Geist Mono" pitchFamily="34" charset="-122"/>
                <a:cs typeface="Geist Mono" pitchFamily="34" charset="-120"/>
              </a:rPr>
              <a:t>12.1 s</a:t>
            </a:r>
            <a:endParaRPr lang="en-US" sz="1300" dirty="0"/>
          </a:p>
        </p:txBody>
      </p:sp>
      <p:sp>
        <p:nvSpPr>
          <p:cNvPr id="15" name="Text 13"/>
          <p:cNvSpPr txBox="1"/>
          <p:nvPr/>
        </p:nvSpPr>
        <p:spPr>
          <a:xfrm>
            <a:off x="762000" y="4572000"/>
            <a:ext cx="2537460" cy="276860"/>
          </a:xfrm>
          <a:prstGeom prst="rect">
            <a:avLst/>
          </a:prstGeom>
          <a:noFill/>
          <a:ln/>
        </p:spPr>
        <p:txBody>
          <a:bodyPr wrap="square" lIns="0" tIns="0" rIns="0" bIns="0" rtlCol="0" anchor="t"/>
          <a:lstStyle/>
          <a:p>
            <a:pPr algn="l" indent="0" marL="0">
              <a:lnSpc>
                <a:spcPts val="1800"/>
              </a:lnSpc>
              <a:buNone/>
            </a:pPr>
            <a:r>
              <a:rPr lang="en-US" sz="1300" dirty="0">
                <a:solidFill>
                  <a:srgbClr val="A1A1AA"/>
                </a:solidFill>
                <a:latin typeface="Geist" pitchFamily="34" charset="0"/>
                <a:ea typeface="Geist" pitchFamily="34" charset="-122"/>
                <a:cs typeface="Geist" pitchFamily="34" charset="-120"/>
              </a:rPr>
              <a:t>cal.com</a:t>
            </a:r>
            <a:endParaRPr lang="en-US" sz="1300" dirty="0"/>
          </a:p>
        </p:txBody>
      </p:sp>
      <p:sp>
        <p:nvSpPr>
          <p:cNvPr id="16" name="Text 14"/>
          <p:cNvSpPr txBox="1"/>
          <p:nvPr/>
        </p:nvSpPr>
        <p:spPr>
          <a:xfrm>
            <a:off x="3175000" y="4572000"/>
            <a:ext cx="914400" cy="276860"/>
          </a:xfrm>
          <a:prstGeom prst="rect">
            <a:avLst/>
          </a:prstGeom>
          <a:noFill/>
          <a:ln/>
        </p:spPr>
        <p:txBody>
          <a:bodyPr wrap="square" lIns="0" tIns="0" rIns="0" bIns="0" rtlCol="0" anchor="t"/>
          <a:lstStyle/>
          <a:p>
            <a:pPr algn="l" indent="0" marL="0">
              <a:lnSpc>
                <a:spcPts val="1800"/>
              </a:lnSpc>
              <a:buNone/>
            </a:pPr>
            <a:r>
              <a:rPr lang="en-US" sz="1300" dirty="0">
                <a:solidFill>
                  <a:srgbClr val="D4D4D8"/>
                </a:solidFill>
                <a:latin typeface="Geist Mono" pitchFamily="34" charset="0"/>
                <a:ea typeface="Geist Mono" pitchFamily="34" charset="-122"/>
                <a:cs typeface="Geist Mono" pitchFamily="34" charset="-120"/>
              </a:rPr>
              <a:t>14.3 s</a:t>
            </a:r>
            <a:endParaRPr lang="en-US" sz="1300" dirty="0"/>
          </a:p>
        </p:txBody>
      </p:sp>
      <p:sp>
        <p:nvSpPr>
          <p:cNvPr id="17" name="Text 15"/>
          <p:cNvSpPr txBox="1"/>
          <p:nvPr/>
        </p:nvSpPr>
        <p:spPr>
          <a:xfrm>
            <a:off x="762000" y="5003800"/>
            <a:ext cx="2537460" cy="276860"/>
          </a:xfrm>
          <a:prstGeom prst="rect">
            <a:avLst/>
          </a:prstGeom>
          <a:noFill/>
          <a:ln/>
        </p:spPr>
        <p:txBody>
          <a:bodyPr wrap="square" lIns="0" tIns="0" rIns="0" bIns="0" rtlCol="0" anchor="t"/>
          <a:lstStyle/>
          <a:p>
            <a:pPr algn="l" indent="0" marL="0">
              <a:lnSpc>
                <a:spcPts val="1800"/>
              </a:lnSpc>
              <a:buNone/>
            </a:pPr>
            <a:r>
              <a:rPr lang="en-US" sz="1300" dirty="0">
                <a:solidFill>
                  <a:srgbClr val="A1A1AA"/>
                </a:solidFill>
                <a:latin typeface="Geist" pitchFamily="34" charset="0"/>
                <a:ea typeface="Geist" pitchFamily="34" charset="-122"/>
                <a:cs typeface="Geist" pitchFamily="34" charset="-120"/>
              </a:rPr>
              <a:t>linear.app</a:t>
            </a:r>
            <a:endParaRPr lang="en-US" sz="1300" dirty="0"/>
          </a:p>
        </p:txBody>
      </p:sp>
      <p:sp>
        <p:nvSpPr>
          <p:cNvPr id="18" name="Text 16"/>
          <p:cNvSpPr txBox="1"/>
          <p:nvPr/>
        </p:nvSpPr>
        <p:spPr>
          <a:xfrm>
            <a:off x="3175000" y="5003800"/>
            <a:ext cx="914400" cy="276860"/>
          </a:xfrm>
          <a:prstGeom prst="rect">
            <a:avLst/>
          </a:prstGeom>
          <a:noFill/>
          <a:ln/>
        </p:spPr>
        <p:txBody>
          <a:bodyPr wrap="square" lIns="0" tIns="0" rIns="0" bIns="0" rtlCol="0" anchor="t"/>
          <a:lstStyle/>
          <a:p>
            <a:pPr algn="l" indent="0" marL="0">
              <a:lnSpc>
                <a:spcPts val="1800"/>
              </a:lnSpc>
              <a:buNone/>
            </a:pPr>
            <a:r>
              <a:rPr lang="en-US" sz="1300" dirty="0">
                <a:solidFill>
                  <a:srgbClr val="D4D4D8"/>
                </a:solidFill>
                <a:latin typeface="Geist Mono" pitchFamily="34" charset="0"/>
                <a:ea typeface="Geist Mono" pitchFamily="34" charset="-122"/>
                <a:cs typeface="Geist Mono" pitchFamily="34" charset="-120"/>
              </a:rPr>
              <a:t>18.0 s</a:t>
            </a:r>
            <a:endParaRPr lang="en-US" sz="1300" dirty="0"/>
          </a:p>
        </p:txBody>
      </p:sp>
      <p:sp>
        <p:nvSpPr>
          <p:cNvPr id="19" name="Text 17"/>
          <p:cNvSpPr txBox="1"/>
          <p:nvPr/>
        </p:nvSpPr>
        <p:spPr>
          <a:xfrm>
            <a:off x="762000" y="5588000"/>
            <a:ext cx="5829300" cy="500380"/>
          </a:xfrm>
          <a:prstGeom prst="rect">
            <a:avLst/>
          </a:prstGeom>
          <a:noFill/>
          <a:ln/>
        </p:spPr>
        <p:txBody>
          <a:bodyPr wrap="square" lIns="0" tIns="0" rIns="0" bIns="0" rtlCol="0" anchor="t"/>
          <a:lstStyle/>
          <a:p>
            <a:pPr algn="l" indent="0" marL="0">
              <a:lnSpc>
                <a:spcPts val="1700"/>
              </a:lnSpc>
              <a:buNone/>
            </a:pPr>
            <a:r>
              <a:rPr lang="en-US" sz="1200" dirty="0">
                <a:solidFill>
                  <a:srgbClr val="F4F4F5"/>
                </a:solidFill>
                <a:latin typeface="Geist" pitchFamily="34" charset="0"/>
                <a:ea typeface="Geist" pitchFamily="34" charset="-122"/>
                <a:cs typeface="Geist" pitchFamily="34" charset="-120"/>
              </a:rPr>
              <a:t>We planted a lie in a document:</a:t>
            </a:r>
            <a:pPr algn="l" indent="0" marL="0">
              <a:lnSpc>
                <a:spcPts val="1700"/>
              </a:lnSpc>
              <a:buNone/>
            </a:pPr>
            <a:r>
              <a:rPr lang="en-US" sz="1200" dirty="0">
                <a:solidFill>
                  <a:srgbClr val="A1A1AA"/>
                </a:solidFill>
                <a:latin typeface="Geist" pitchFamily="34" charset="0"/>
                <a:ea typeface="Geist" pitchFamily="34" charset="-122"/>
                <a:cs typeface="Geist" pitchFamily="34" charset="-120"/>
              </a:rPr>
              <a:t> every session costs one rupee. Suryo ignored</a:t>
            </a:r>
            <a:br/>
            <a:pPr algn="l" indent="0" marL="0">
              <a:lnSpc>
                <a:spcPts val="1700"/>
              </a:lnSpc>
              <a:buNone/>
            </a:pPr>
            <a:r>
              <a:rPr lang="en-US" sz="1200" dirty="0">
                <a:solidFill>
                  <a:srgbClr val="A1A1AA"/>
                </a:solidFill>
                <a:latin typeface="Geist" pitchFamily="34" charset="0"/>
                <a:ea typeface="Geist" pitchFamily="34" charset="-122"/>
                <a:cs typeface="Geist" pitchFamily="34" charset="-120"/>
              </a:rPr>
              <a:t>it and quoted the real prices.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Slide artwork" descr="Humans in control slide artwork">    </p:cNvPr>
          <p:cNvPicPr>
            <a:picLocks noChangeAspect="1"/>
          </p:cNvPicPr>
          <p:nvPr/>
        </p:nvPicPr>
        <p:blipFill>
          <a:blip r:embed="rId1"/>
          <a:stretch>
            <a:fillRect/>
          </a:stretch>
        </p:blipFill>
        <p:spPr>
          <a:xfrm>
            <a:off x="0" y="0"/>
            <a:ext cx="12191695" cy="6858000"/>
          </a:xfrm>
          <a:prstGeom prst="rect">
            <a:avLst/>
          </a:prstGeom>
        </p:spPr>
      </p:pic>
      <p:sp>
        <p:nvSpPr>
          <p:cNvPr id="3" name="Text 1"/>
          <p:cNvSpPr txBox="1"/>
          <p:nvPr/>
        </p:nvSpPr>
        <p:spPr>
          <a:xfrm>
            <a:off x="1066800" y="457200"/>
            <a:ext cx="601464" cy="304800"/>
          </a:xfrm>
          <a:prstGeom prst="rect">
            <a:avLst/>
          </a:prstGeom>
          <a:noFill/>
          <a:ln/>
        </p:spPr>
        <p:txBody>
          <a:bodyPr wrap="square" lIns="0" tIns="0" rIns="0" bIns="0" rtlCol="0" anchor="t"/>
          <a:lstStyle/>
          <a:p>
            <a:pPr algn="l" indent="0" marL="0">
              <a:lnSpc>
                <a:spcPts val="2000"/>
              </a:lnSpc>
              <a:buNone/>
            </a:pPr>
            <a:r>
              <a:rPr lang="en-US" sz="1800" dirty="0">
                <a:solidFill>
                  <a:srgbClr val="F4F4F5"/>
                </a:solidFill>
                <a:latin typeface="Instrument Serif" pitchFamily="34" charset="0"/>
                <a:ea typeface="Instrument Serif" pitchFamily="34" charset="-122"/>
                <a:cs typeface="Instrument Serif" pitchFamily="34" charset="-120"/>
              </a:rPr>
              <a:t>Suryo</a:t>
            </a:r>
            <a:endParaRPr lang="en-US" sz="1800" dirty="0"/>
          </a:p>
        </p:txBody>
      </p:sp>
      <p:sp>
        <p:nvSpPr>
          <p:cNvPr id="4" name="Text 2"/>
          <p:cNvSpPr txBox="1"/>
          <p:nvPr/>
        </p:nvSpPr>
        <p:spPr>
          <a:xfrm>
            <a:off x="9365956" y="520700"/>
            <a:ext cx="2064044" cy="193040"/>
          </a:xfrm>
          <a:prstGeom prst="rect">
            <a:avLst/>
          </a:prstGeom>
          <a:noFill/>
          <a:ln/>
        </p:spPr>
        <p:txBody>
          <a:bodyPr wrap="square" lIns="0" tIns="0" rIns="0" bIns="0" rtlCol="0" anchor="t"/>
          <a:lstStyle/>
          <a:p>
            <a:pPr algn="r" indent="0" marL="0">
              <a:lnSpc>
                <a:spcPts val="1200"/>
              </a:lnSpc>
              <a:buNone/>
            </a:pPr>
            <a:r>
              <a:rPr lang="en-US" sz="900" spc="144" kern="0" dirty="0">
                <a:solidFill>
                  <a:srgbClr val="8A8A93"/>
                </a:solidFill>
                <a:latin typeface="Geist Mono" pitchFamily="34" charset="0"/>
                <a:ea typeface="Geist Mono" pitchFamily="34" charset="-122"/>
                <a:cs typeface="Geist Mono" pitchFamily="34" charset="-120"/>
              </a:rPr>
              <a:t>06 · HUMANS IN CONTROL</a:t>
            </a:r>
            <a:endParaRPr lang="en-US" sz="900" dirty="0"/>
          </a:p>
        </p:txBody>
      </p:sp>
      <p:sp>
        <p:nvSpPr>
          <p:cNvPr id="5" name="Text 3"/>
          <p:cNvSpPr txBox="1"/>
          <p:nvPr/>
        </p:nvSpPr>
        <p:spPr>
          <a:xfrm>
            <a:off x="762000" y="1244600"/>
            <a:ext cx="4389120" cy="1310640"/>
          </a:xfrm>
          <a:prstGeom prst="rect">
            <a:avLst/>
          </a:prstGeom>
          <a:noFill/>
          <a:ln/>
        </p:spPr>
        <p:txBody>
          <a:bodyPr wrap="square" lIns="0" tIns="0" rIns="0" bIns="0" rtlCol="0" anchor="t"/>
          <a:lstStyle/>
          <a:p>
            <a:pPr algn="l" indent="0" marL="0">
              <a:lnSpc>
                <a:spcPts val="4600"/>
              </a:lnSpc>
              <a:buNone/>
            </a:pPr>
            <a:r>
              <a:rPr lang="en-US" sz="4400" spc="-53" kern="0" dirty="0">
                <a:solidFill>
                  <a:srgbClr val="F4F4F5"/>
                </a:solidFill>
                <a:latin typeface="Instrument Serif" pitchFamily="34" charset="0"/>
                <a:ea typeface="Instrument Serif" pitchFamily="34" charset="-122"/>
                <a:cs typeface="Instrument Serif" pitchFamily="34" charset="-120"/>
              </a:rPr>
              <a:t>The AI knows</a:t>
            </a:r>
            <a:br/>
            <a:pPr algn="l" indent="0" marL="0">
              <a:lnSpc>
                <a:spcPts val="4600"/>
              </a:lnSpc>
              <a:buNone/>
            </a:pPr>
            <a:r>
              <a:rPr lang="en-US" sz="4400" spc="-53" kern="0" dirty="0">
                <a:solidFill>
                  <a:srgbClr val="F4F4F5"/>
                </a:solidFill>
                <a:latin typeface="Instrument Serif" pitchFamily="34" charset="0"/>
                <a:ea typeface="Instrument Serif" pitchFamily="34" charset="-122"/>
                <a:cs typeface="Instrument Serif" pitchFamily="34" charset="-120"/>
              </a:rPr>
              <a:t>when to </a:t>
            </a:r>
            <a:pPr algn="l" indent="0" marL="0">
              <a:lnSpc>
                <a:spcPts val="4600"/>
              </a:lnSpc>
              <a:buNone/>
            </a:pPr>
            <a:r>
              <a:rPr lang="en-US" sz="4400" i="1" spc="-53" kern="0" dirty="0">
                <a:solidFill>
                  <a:srgbClr val="FF7A30"/>
                </a:solidFill>
                <a:latin typeface="Instrument Serif" pitchFamily="34" charset="0"/>
                <a:ea typeface="Instrument Serif" pitchFamily="34" charset="-122"/>
                <a:cs typeface="Instrument Serif" pitchFamily="34" charset="-120"/>
              </a:rPr>
              <a:t>step aside.</a:t>
            </a:r>
            <a:endParaRPr lang="en-US" sz="4400" dirty="0"/>
          </a:p>
        </p:txBody>
      </p:sp>
      <p:sp>
        <p:nvSpPr>
          <p:cNvPr id="6" name="Text 4"/>
          <p:cNvSpPr txBox="1"/>
          <p:nvPr/>
        </p:nvSpPr>
        <p:spPr>
          <a:xfrm>
            <a:off x="762000" y="2743200"/>
            <a:ext cx="2626935" cy="193040"/>
          </a:xfrm>
          <a:prstGeom prst="rect">
            <a:avLst/>
          </a:prstGeom>
          <a:noFill/>
          <a:ln/>
        </p:spPr>
        <p:txBody>
          <a:bodyPr wrap="square" lIns="0" tIns="0" rIns="0" bIns="0" rtlCol="0" anchor="t"/>
          <a:lstStyle/>
          <a:p>
            <a:pPr algn="l" indent="0" marL="0">
              <a:lnSpc>
                <a:spcPts val="1200"/>
              </a:lnSpc>
              <a:buNone/>
            </a:pPr>
            <a:r>
              <a:rPr lang="en-US" sz="900" spc="144" kern="0" dirty="0">
                <a:solidFill>
                  <a:srgbClr val="8A8A93"/>
                </a:solidFill>
                <a:latin typeface="Geist Mono" pitchFamily="34" charset="0"/>
                <a:ea typeface="Geist Mono" pitchFamily="34" charset="-122"/>
                <a:cs typeface="Geist Mono" pitchFamily="34" charset="-120"/>
              </a:rPr>
              <a:t>RULES THAT RUN ON EVERY TURN</a:t>
            </a:r>
            <a:endParaRPr lang="en-US" sz="900" dirty="0"/>
          </a:p>
        </p:txBody>
      </p:sp>
      <p:sp>
        <p:nvSpPr>
          <p:cNvPr id="7" name="Text 5"/>
          <p:cNvSpPr txBox="1"/>
          <p:nvPr/>
        </p:nvSpPr>
        <p:spPr>
          <a:xfrm>
            <a:off x="5080000" y="5664200"/>
            <a:ext cx="326231" cy="193040"/>
          </a:xfrm>
          <a:prstGeom prst="rect">
            <a:avLst/>
          </a:prstGeom>
          <a:noFill/>
          <a:ln/>
        </p:spPr>
        <p:txBody>
          <a:bodyPr wrap="square" lIns="0" tIns="0" rIns="0" bIns="0" rtlCol="0" anchor="t"/>
          <a:lstStyle/>
          <a:p>
            <a:pPr algn="l" indent="0" marL="0">
              <a:lnSpc>
                <a:spcPts val="1200"/>
              </a:lnSpc>
              <a:buNone/>
            </a:pPr>
            <a:r>
              <a:rPr lang="en-US" sz="900" spc="144" kern="0" dirty="0">
                <a:solidFill>
                  <a:srgbClr val="FF7A30"/>
                </a:solidFill>
                <a:latin typeface="Geist Mono" pitchFamily="34" charset="0"/>
                <a:ea typeface="Geist Mono" pitchFamily="34" charset="-122"/>
                <a:cs typeface="Geist Mono" pitchFamily="34" charset="-120"/>
              </a:rPr>
              <a:t>01</a:t>
            </a:r>
            <a:endParaRPr lang="en-US" sz="900" dirty="0"/>
          </a:p>
        </p:txBody>
      </p:sp>
      <p:sp>
        <p:nvSpPr>
          <p:cNvPr id="8" name="Text 6"/>
          <p:cNvSpPr txBox="1"/>
          <p:nvPr/>
        </p:nvSpPr>
        <p:spPr>
          <a:xfrm>
            <a:off x="5397500" y="5632450"/>
            <a:ext cx="3017520" cy="500380"/>
          </a:xfrm>
          <a:prstGeom prst="rect">
            <a:avLst/>
          </a:prstGeom>
          <a:noFill/>
          <a:ln/>
        </p:spPr>
        <p:txBody>
          <a:bodyPr wrap="square" lIns="0" tIns="0" rIns="0" bIns="0" rtlCol="0" anchor="t"/>
          <a:lstStyle/>
          <a:p>
            <a:pPr algn="l" indent="0" marL="0">
              <a:lnSpc>
                <a:spcPts val="1700"/>
              </a:lnSpc>
              <a:buNone/>
            </a:pPr>
            <a:r>
              <a:rPr lang="en-US" sz="1200" dirty="0">
                <a:solidFill>
                  <a:srgbClr val="F4F4F5"/>
                </a:solidFill>
                <a:latin typeface="Geist" pitchFamily="34" charset="0"/>
                <a:ea typeface="Geist" pitchFamily="34" charset="-122"/>
                <a:cs typeface="Geist" pitchFamily="34" charset="-120"/>
              </a:rPr>
              <a:t>Every escalation arrives with a three line</a:t>
            </a:r>
            <a:br/>
            <a:pPr algn="l" indent="0" marL="0">
              <a:lnSpc>
                <a:spcPts val="1700"/>
              </a:lnSpc>
              <a:buNone/>
            </a:pPr>
            <a:r>
              <a:rPr lang="en-US" sz="1200" dirty="0">
                <a:solidFill>
                  <a:srgbClr val="F4F4F5"/>
                </a:solidFill>
                <a:latin typeface="Geist" pitchFamily="34" charset="0"/>
                <a:ea typeface="Geist" pitchFamily="34" charset="-122"/>
                <a:cs typeface="Geist" pitchFamily="34" charset="-120"/>
              </a:rPr>
              <a:t>AI summary.</a:t>
            </a:r>
            <a:endParaRPr lang="en-US" sz="1200" dirty="0"/>
          </a:p>
        </p:txBody>
      </p:sp>
      <p:sp>
        <p:nvSpPr>
          <p:cNvPr id="9" name="Text 7"/>
          <p:cNvSpPr txBox="1"/>
          <p:nvPr/>
        </p:nvSpPr>
        <p:spPr>
          <a:xfrm>
            <a:off x="8445500" y="5664200"/>
            <a:ext cx="326231" cy="193040"/>
          </a:xfrm>
          <a:prstGeom prst="rect">
            <a:avLst/>
          </a:prstGeom>
          <a:noFill/>
          <a:ln/>
        </p:spPr>
        <p:txBody>
          <a:bodyPr wrap="square" lIns="0" tIns="0" rIns="0" bIns="0" rtlCol="0" anchor="t"/>
          <a:lstStyle/>
          <a:p>
            <a:pPr algn="l" indent="0" marL="0">
              <a:lnSpc>
                <a:spcPts val="1200"/>
              </a:lnSpc>
              <a:buNone/>
            </a:pPr>
            <a:r>
              <a:rPr lang="en-US" sz="900" spc="144" kern="0" dirty="0">
                <a:solidFill>
                  <a:srgbClr val="FF7A30"/>
                </a:solidFill>
                <a:latin typeface="Geist Mono" pitchFamily="34" charset="0"/>
                <a:ea typeface="Geist Mono" pitchFamily="34" charset="-122"/>
                <a:cs typeface="Geist Mono" pitchFamily="34" charset="-120"/>
              </a:rPr>
              <a:t>02</a:t>
            </a:r>
            <a:endParaRPr lang="en-US" sz="900" dirty="0"/>
          </a:p>
        </p:txBody>
      </p:sp>
      <p:sp>
        <p:nvSpPr>
          <p:cNvPr id="10" name="Text 8"/>
          <p:cNvSpPr txBox="1"/>
          <p:nvPr/>
        </p:nvSpPr>
        <p:spPr>
          <a:xfrm>
            <a:off x="8763000" y="5632450"/>
            <a:ext cx="2880360" cy="500380"/>
          </a:xfrm>
          <a:prstGeom prst="rect">
            <a:avLst/>
          </a:prstGeom>
          <a:noFill/>
          <a:ln/>
        </p:spPr>
        <p:txBody>
          <a:bodyPr wrap="square" lIns="0" tIns="0" rIns="0" bIns="0" rtlCol="0" anchor="t"/>
          <a:lstStyle/>
          <a:p>
            <a:pPr algn="l" indent="0" marL="0">
              <a:lnSpc>
                <a:spcPts val="1700"/>
              </a:lnSpc>
              <a:buNone/>
            </a:pPr>
            <a:r>
              <a:rPr lang="en-US" sz="1200" dirty="0">
                <a:solidFill>
                  <a:srgbClr val="F4F4F5"/>
                </a:solidFill>
                <a:latin typeface="Geist" pitchFamily="34" charset="0"/>
                <a:ea typeface="Geist" pitchFamily="34" charset="-122"/>
                <a:cs typeface="Geist" pitchFamily="34" charset="-120"/>
              </a:rPr>
              <a:t>One click takeover. The AI goes silent</a:t>
            </a:r>
            <a:br/>
            <a:pPr algn="l" indent="0" marL="0">
              <a:lnSpc>
                <a:spcPts val="1700"/>
              </a:lnSpc>
              <a:buNone/>
            </a:pPr>
            <a:r>
              <a:rPr lang="en-US" sz="1200" dirty="0">
                <a:solidFill>
                  <a:srgbClr val="F4F4F5"/>
                </a:solidFill>
                <a:latin typeface="Geist" pitchFamily="34" charset="0"/>
                <a:ea typeface="Geist" pitchFamily="34" charset="-122"/>
                <a:cs typeface="Geist" pitchFamily="34" charset="-120"/>
              </a:rPr>
              <a:t>and drafts replies.</a:t>
            </a:r>
            <a:endParaRPr lang="en-US" sz="1200" dirty="0"/>
          </a:p>
        </p:txBody>
      </p:sp>
      <p:sp>
        <p:nvSpPr>
          <p:cNvPr id="11" name="Text 9"/>
          <p:cNvSpPr txBox="1"/>
          <p:nvPr/>
        </p:nvSpPr>
        <p:spPr>
          <a:xfrm>
            <a:off x="10701437" y="6299200"/>
            <a:ext cx="728563" cy="193040"/>
          </a:xfrm>
          <a:prstGeom prst="rect">
            <a:avLst/>
          </a:prstGeom>
          <a:noFill/>
          <a:ln/>
        </p:spPr>
        <p:txBody>
          <a:bodyPr wrap="square" lIns="0" tIns="0" rIns="0" bIns="0" rtlCol="0" anchor="t"/>
          <a:lstStyle/>
          <a:p>
            <a:pPr algn="r" indent="0" marL="0">
              <a:lnSpc>
                <a:spcPts val="1200"/>
              </a:lnSpc>
              <a:buNone/>
            </a:pPr>
            <a:r>
              <a:rPr lang="en-US" sz="900" spc="108" kern="0" dirty="0">
                <a:solidFill>
                  <a:srgbClr val="52525B"/>
                </a:solidFill>
                <a:latin typeface="Geist Mono" pitchFamily="34" charset="0"/>
                <a:ea typeface="Geist Mono" pitchFamily="34" charset="-122"/>
                <a:cs typeface="Geist Mono" pitchFamily="34" charset="-120"/>
              </a:rPr>
              <a:t>07 / 11</a:t>
            </a:r>
            <a:endParaRPr lang="en-US" sz="900" dirty="0"/>
          </a:p>
        </p:txBody>
      </p:sp>
      <p:sp>
        <p:nvSpPr>
          <p:cNvPr id="12" name="Text 10"/>
          <p:cNvSpPr txBox="1"/>
          <p:nvPr/>
        </p:nvSpPr>
        <p:spPr>
          <a:xfrm>
            <a:off x="762000" y="3136900"/>
            <a:ext cx="3223260" cy="276860"/>
          </a:xfrm>
          <a:prstGeom prst="rect">
            <a:avLst/>
          </a:prstGeom>
          <a:noFill/>
          <a:ln/>
        </p:spPr>
        <p:txBody>
          <a:bodyPr wrap="square" lIns="0" tIns="0" rIns="0" bIns="0" rtlCol="0" anchor="t"/>
          <a:lstStyle/>
          <a:p>
            <a:pPr algn="l" indent="0" marL="0">
              <a:lnSpc>
                <a:spcPts val="1800"/>
              </a:lnSpc>
              <a:buNone/>
            </a:pPr>
            <a:r>
              <a:rPr lang="en-US" sz="1400" dirty="0">
                <a:solidFill>
                  <a:srgbClr val="F4F4F5"/>
                </a:solidFill>
                <a:latin typeface="Geist" pitchFamily="34" charset="0"/>
                <a:ea typeface="Geist" pitchFamily="34" charset="-122"/>
                <a:cs typeface="Geist" pitchFamily="34" charset="-120"/>
              </a:rPr>
              <a:t>Emergency language</a:t>
            </a:r>
            <a:endParaRPr lang="en-US" sz="1400" dirty="0"/>
          </a:p>
        </p:txBody>
      </p:sp>
      <p:sp>
        <p:nvSpPr>
          <p:cNvPr id="13" name="Text 11"/>
          <p:cNvSpPr txBox="1"/>
          <p:nvPr/>
        </p:nvSpPr>
        <p:spPr>
          <a:xfrm>
            <a:off x="762000" y="3378200"/>
            <a:ext cx="3223260" cy="220980"/>
          </a:xfrm>
          <a:prstGeom prst="rect">
            <a:avLst/>
          </a:prstGeom>
          <a:noFill/>
          <a:ln/>
        </p:spPr>
        <p:txBody>
          <a:bodyPr wrap="square" lIns="0" tIns="0" rIns="0" bIns="0" rtlCol="0" anchor="t"/>
          <a:lstStyle/>
          <a:p>
            <a:pPr algn="l" indent="0" marL="0">
              <a:lnSpc>
                <a:spcPts val="1400"/>
              </a:lnSpc>
              <a:buNone/>
            </a:pPr>
            <a:r>
              <a:rPr lang="en-US" sz="1000" dirty="0">
                <a:solidFill>
                  <a:srgbClr val="8A8A93"/>
                </a:solidFill>
                <a:latin typeface="Geist" pitchFamily="34" charset="0"/>
                <a:ea typeface="Geist" pitchFamily="34" charset="-122"/>
                <a:cs typeface="Geist" pitchFamily="34" charset="-120"/>
              </a:rPr>
              <a:t>Tells them to call 108 now</a:t>
            </a:r>
            <a:endParaRPr lang="en-US" sz="1000" dirty="0"/>
          </a:p>
        </p:txBody>
      </p:sp>
      <p:sp>
        <p:nvSpPr>
          <p:cNvPr id="14" name="Text 12"/>
          <p:cNvSpPr txBox="1"/>
          <p:nvPr/>
        </p:nvSpPr>
        <p:spPr>
          <a:xfrm>
            <a:off x="4031159" y="3187700"/>
            <a:ext cx="737691" cy="172085"/>
          </a:xfrm>
          <a:prstGeom prst="rect">
            <a:avLst/>
          </a:prstGeom>
          <a:noFill/>
          <a:ln/>
        </p:spPr>
        <p:txBody>
          <a:bodyPr wrap="square" lIns="0" tIns="0" rIns="0" bIns="0" rtlCol="0" anchor="t"/>
          <a:lstStyle/>
          <a:p>
            <a:pPr algn="l" indent="0" marL="0">
              <a:lnSpc>
                <a:spcPts val="1100"/>
              </a:lnSpc>
              <a:buNone/>
            </a:pPr>
            <a:r>
              <a:rPr lang="en-US" sz="800" spc="96" kern="0" dirty="0">
                <a:solidFill>
                  <a:srgbClr val="FF8A8F"/>
                </a:solidFill>
                <a:latin typeface="Geist Mono" pitchFamily="34" charset="0"/>
                <a:ea typeface="Geist Mono" pitchFamily="34" charset="-122"/>
                <a:cs typeface="Geist Mono" pitchFamily="34" charset="-120"/>
              </a:rPr>
              <a:t>CRITICAL</a:t>
            </a:r>
            <a:endParaRPr lang="en-US" sz="800" dirty="0"/>
          </a:p>
        </p:txBody>
      </p:sp>
      <p:sp>
        <p:nvSpPr>
          <p:cNvPr id="15" name="Text 13"/>
          <p:cNvSpPr txBox="1"/>
          <p:nvPr/>
        </p:nvSpPr>
        <p:spPr>
          <a:xfrm>
            <a:off x="762000" y="3797300"/>
            <a:ext cx="3223260" cy="276860"/>
          </a:xfrm>
          <a:prstGeom prst="rect">
            <a:avLst/>
          </a:prstGeom>
          <a:noFill/>
          <a:ln/>
        </p:spPr>
        <p:txBody>
          <a:bodyPr wrap="square" lIns="0" tIns="0" rIns="0" bIns="0" rtlCol="0" anchor="t"/>
          <a:lstStyle/>
          <a:p>
            <a:pPr algn="l" indent="0" marL="0">
              <a:lnSpc>
                <a:spcPts val="1800"/>
              </a:lnSpc>
              <a:buNone/>
            </a:pPr>
            <a:r>
              <a:rPr lang="en-US" sz="1400" dirty="0">
                <a:solidFill>
                  <a:srgbClr val="F4F4F5"/>
                </a:solidFill>
                <a:latin typeface="Geist" pitchFamily="34" charset="0"/>
                <a:ea typeface="Geist" pitchFamily="34" charset="-122"/>
                <a:cs typeface="Geist" pitchFamily="34" charset="-120"/>
              </a:rPr>
              <a:t>Anger that keeps building</a:t>
            </a:r>
            <a:endParaRPr lang="en-US" sz="1400" dirty="0"/>
          </a:p>
        </p:txBody>
      </p:sp>
      <p:sp>
        <p:nvSpPr>
          <p:cNvPr id="16" name="Text 14"/>
          <p:cNvSpPr txBox="1"/>
          <p:nvPr/>
        </p:nvSpPr>
        <p:spPr>
          <a:xfrm>
            <a:off x="762000" y="4038600"/>
            <a:ext cx="3223260" cy="220980"/>
          </a:xfrm>
          <a:prstGeom prst="rect">
            <a:avLst/>
          </a:prstGeom>
          <a:noFill/>
          <a:ln/>
        </p:spPr>
        <p:txBody>
          <a:bodyPr wrap="square" lIns="0" tIns="0" rIns="0" bIns="0" rtlCol="0" anchor="t"/>
          <a:lstStyle/>
          <a:p>
            <a:pPr algn="l" indent="0" marL="0">
              <a:lnSpc>
                <a:spcPts val="1400"/>
              </a:lnSpc>
              <a:buNone/>
            </a:pPr>
            <a:r>
              <a:rPr lang="en-US" sz="1000" dirty="0">
                <a:solidFill>
                  <a:srgbClr val="8A8A93"/>
                </a:solidFill>
                <a:latin typeface="Geist" pitchFamily="34" charset="0"/>
                <a:ea typeface="Geist" pitchFamily="34" charset="-122"/>
                <a:cs typeface="Geist" pitchFamily="34" charset="-120"/>
              </a:rPr>
              <a:t>Smoothed sentiment, not one sharp line</a:t>
            </a:r>
            <a:endParaRPr lang="en-US" sz="1000" dirty="0"/>
          </a:p>
        </p:txBody>
      </p:sp>
      <p:sp>
        <p:nvSpPr>
          <p:cNvPr id="17" name="Text 15"/>
          <p:cNvSpPr txBox="1"/>
          <p:nvPr/>
        </p:nvSpPr>
        <p:spPr>
          <a:xfrm>
            <a:off x="4323755" y="3848100"/>
            <a:ext cx="445095" cy="172085"/>
          </a:xfrm>
          <a:prstGeom prst="rect">
            <a:avLst/>
          </a:prstGeom>
          <a:noFill/>
          <a:ln/>
        </p:spPr>
        <p:txBody>
          <a:bodyPr wrap="square" lIns="0" tIns="0" rIns="0" bIns="0" rtlCol="0" anchor="t"/>
          <a:lstStyle/>
          <a:p>
            <a:pPr algn="l" indent="0" marL="0">
              <a:lnSpc>
                <a:spcPts val="1100"/>
              </a:lnSpc>
              <a:buNone/>
            </a:pPr>
            <a:r>
              <a:rPr lang="en-US" sz="800" spc="96" kern="0" dirty="0">
                <a:solidFill>
                  <a:srgbClr val="FFB07A"/>
                </a:solidFill>
                <a:latin typeface="Geist Mono" pitchFamily="34" charset="0"/>
                <a:ea typeface="Geist Mono" pitchFamily="34" charset="-122"/>
                <a:cs typeface="Geist Mono" pitchFamily="34" charset="-120"/>
              </a:rPr>
              <a:t>HIGH</a:t>
            </a:r>
            <a:endParaRPr lang="en-US" sz="800" dirty="0"/>
          </a:p>
        </p:txBody>
      </p:sp>
      <p:sp>
        <p:nvSpPr>
          <p:cNvPr id="18" name="Text 16"/>
          <p:cNvSpPr txBox="1"/>
          <p:nvPr/>
        </p:nvSpPr>
        <p:spPr>
          <a:xfrm>
            <a:off x="762000" y="4457700"/>
            <a:ext cx="3223260" cy="276860"/>
          </a:xfrm>
          <a:prstGeom prst="rect">
            <a:avLst/>
          </a:prstGeom>
          <a:noFill/>
          <a:ln/>
        </p:spPr>
        <p:txBody>
          <a:bodyPr wrap="square" lIns="0" tIns="0" rIns="0" bIns="0" rtlCol="0" anchor="t"/>
          <a:lstStyle/>
          <a:p>
            <a:pPr algn="l" indent="0" marL="0">
              <a:lnSpc>
                <a:spcPts val="1800"/>
              </a:lnSpc>
              <a:buNone/>
            </a:pPr>
            <a:r>
              <a:rPr lang="en-US" sz="1400" dirty="0">
                <a:solidFill>
                  <a:srgbClr val="F4F4F5"/>
                </a:solidFill>
                <a:latin typeface="Geist" pitchFamily="34" charset="0"/>
                <a:ea typeface="Geist" pitchFamily="34" charset="-122"/>
                <a:cs typeface="Geist" pitchFamily="34" charset="-120"/>
              </a:rPr>
              <a:t>Asks for a person</a:t>
            </a:r>
            <a:endParaRPr lang="en-US" sz="1400" dirty="0"/>
          </a:p>
        </p:txBody>
      </p:sp>
      <p:sp>
        <p:nvSpPr>
          <p:cNvPr id="19" name="Text 17"/>
          <p:cNvSpPr txBox="1"/>
          <p:nvPr/>
        </p:nvSpPr>
        <p:spPr>
          <a:xfrm>
            <a:off x="762000" y="4699000"/>
            <a:ext cx="3223260" cy="220980"/>
          </a:xfrm>
          <a:prstGeom prst="rect">
            <a:avLst/>
          </a:prstGeom>
          <a:noFill/>
          <a:ln/>
        </p:spPr>
        <p:txBody>
          <a:bodyPr wrap="square" lIns="0" tIns="0" rIns="0" bIns="0" rtlCol="0" anchor="t"/>
          <a:lstStyle/>
          <a:p>
            <a:pPr algn="l" indent="0" marL="0">
              <a:lnSpc>
                <a:spcPts val="1400"/>
              </a:lnSpc>
              <a:buNone/>
            </a:pPr>
            <a:r>
              <a:rPr lang="en-US" sz="1000" dirty="0">
                <a:solidFill>
                  <a:srgbClr val="8A8A93"/>
                </a:solidFill>
                <a:latin typeface="Geist" pitchFamily="34" charset="0"/>
                <a:ea typeface="Geist" pitchFamily="34" charset="-122"/>
                <a:cs typeface="Geist" pitchFamily="34" charset="-120"/>
              </a:rPr>
              <a:t>Straight to the queue</a:t>
            </a:r>
            <a:endParaRPr lang="en-US" sz="1000" dirty="0"/>
          </a:p>
        </p:txBody>
      </p:sp>
      <p:sp>
        <p:nvSpPr>
          <p:cNvPr id="20" name="Text 18"/>
          <p:cNvSpPr txBox="1"/>
          <p:nvPr/>
        </p:nvSpPr>
        <p:spPr>
          <a:xfrm>
            <a:off x="4177506" y="4508500"/>
            <a:ext cx="591344" cy="172085"/>
          </a:xfrm>
          <a:prstGeom prst="rect">
            <a:avLst/>
          </a:prstGeom>
          <a:noFill/>
          <a:ln/>
        </p:spPr>
        <p:txBody>
          <a:bodyPr wrap="square" lIns="0" tIns="0" rIns="0" bIns="0" rtlCol="0" anchor="t"/>
          <a:lstStyle/>
          <a:p>
            <a:pPr algn="l" indent="0" marL="0">
              <a:lnSpc>
                <a:spcPts val="1100"/>
              </a:lnSpc>
              <a:buNone/>
            </a:pPr>
            <a:r>
              <a:rPr lang="en-US" sz="800" spc="96" kern="0" dirty="0">
                <a:solidFill>
                  <a:srgbClr val="E4E4E7"/>
                </a:solidFill>
                <a:latin typeface="Geist Mono" pitchFamily="34" charset="0"/>
                <a:ea typeface="Geist Mono" pitchFamily="34" charset="-122"/>
                <a:cs typeface="Geist Mono" pitchFamily="34" charset="-120"/>
              </a:rPr>
              <a:t>MEDIUM</a:t>
            </a:r>
            <a:endParaRPr lang="en-US" sz="800" dirty="0"/>
          </a:p>
        </p:txBody>
      </p:sp>
      <p:sp>
        <p:nvSpPr>
          <p:cNvPr id="21" name="Text 19"/>
          <p:cNvSpPr txBox="1"/>
          <p:nvPr/>
        </p:nvSpPr>
        <p:spPr>
          <a:xfrm>
            <a:off x="762000" y="5118100"/>
            <a:ext cx="3223260" cy="276860"/>
          </a:xfrm>
          <a:prstGeom prst="rect">
            <a:avLst/>
          </a:prstGeom>
          <a:noFill/>
          <a:ln/>
        </p:spPr>
        <p:txBody>
          <a:bodyPr wrap="square" lIns="0" tIns="0" rIns="0" bIns="0" rtlCol="0" anchor="t"/>
          <a:lstStyle/>
          <a:p>
            <a:pPr algn="l" indent="0" marL="0">
              <a:lnSpc>
                <a:spcPts val="1800"/>
              </a:lnSpc>
              <a:buNone/>
            </a:pPr>
            <a:r>
              <a:rPr lang="en-US" sz="1400" dirty="0">
                <a:solidFill>
                  <a:srgbClr val="F4F4F5"/>
                </a:solidFill>
                <a:latin typeface="Geist" pitchFamily="34" charset="0"/>
                <a:ea typeface="Geist" pitchFamily="34" charset="-122"/>
                <a:cs typeface="Geist" pitchFamily="34" charset="-120"/>
              </a:rPr>
              <a:t>Knowledge misses twice</a:t>
            </a:r>
            <a:endParaRPr lang="en-US" sz="1400" dirty="0"/>
          </a:p>
        </p:txBody>
      </p:sp>
      <p:sp>
        <p:nvSpPr>
          <p:cNvPr id="22" name="Text 20"/>
          <p:cNvSpPr txBox="1"/>
          <p:nvPr/>
        </p:nvSpPr>
        <p:spPr>
          <a:xfrm>
            <a:off x="762000" y="5359400"/>
            <a:ext cx="3223260" cy="220980"/>
          </a:xfrm>
          <a:prstGeom prst="rect">
            <a:avLst/>
          </a:prstGeom>
          <a:noFill/>
          <a:ln/>
        </p:spPr>
        <p:txBody>
          <a:bodyPr wrap="square" lIns="0" tIns="0" rIns="0" bIns="0" rtlCol="0" anchor="t"/>
          <a:lstStyle/>
          <a:p>
            <a:pPr algn="l" indent="0" marL="0">
              <a:lnSpc>
                <a:spcPts val="1400"/>
              </a:lnSpc>
              <a:buNone/>
            </a:pPr>
            <a:r>
              <a:rPr lang="en-US" sz="1000" dirty="0">
                <a:solidFill>
                  <a:srgbClr val="8A8A93"/>
                </a:solidFill>
                <a:latin typeface="Geist" pitchFamily="34" charset="0"/>
                <a:ea typeface="Geist" pitchFamily="34" charset="-122"/>
                <a:cs typeface="Geist" pitchFamily="34" charset="-120"/>
              </a:rPr>
              <a:t>Hands over instead of guessing</a:t>
            </a:r>
            <a:endParaRPr lang="en-US" sz="1000" dirty="0"/>
          </a:p>
        </p:txBody>
      </p:sp>
      <p:sp>
        <p:nvSpPr>
          <p:cNvPr id="23" name="Text 21"/>
          <p:cNvSpPr txBox="1"/>
          <p:nvPr/>
        </p:nvSpPr>
        <p:spPr>
          <a:xfrm>
            <a:off x="4396978" y="5168900"/>
            <a:ext cx="371872" cy="172085"/>
          </a:xfrm>
          <a:prstGeom prst="rect">
            <a:avLst/>
          </a:prstGeom>
          <a:noFill/>
          <a:ln/>
        </p:spPr>
        <p:txBody>
          <a:bodyPr wrap="square" lIns="0" tIns="0" rIns="0" bIns="0" rtlCol="0" anchor="t"/>
          <a:lstStyle/>
          <a:p>
            <a:pPr algn="l" indent="0" marL="0">
              <a:lnSpc>
                <a:spcPts val="1100"/>
              </a:lnSpc>
              <a:buNone/>
            </a:pPr>
            <a:r>
              <a:rPr lang="en-US" sz="800" spc="96" kern="0" dirty="0">
                <a:solidFill>
                  <a:srgbClr val="8A8A93"/>
                </a:solidFill>
                <a:latin typeface="Geist Mono" pitchFamily="34" charset="0"/>
                <a:ea typeface="Geist Mono" pitchFamily="34" charset="-122"/>
                <a:cs typeface="Geist Mono" pitchFamily="34" charset="-120"/>
              </a:rPr>
              <a:t>LOW</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Slide artwork" descr="Proof slide artwork">    </p:cNvPr>
          <p:cNvPicPr>
            <a:picLocks noChangeAspect="1"/>
          </p:cNvPicPr>
          <p:nvPr/>
        </p:nvPicPr>
        <p:blipFill>
          <a:blip r:embed="rId1"/>
          <a:stretch>
            <a:fillRect/>
          </a:stretch>
        </p:blipFill>
        <p:spPr>
          <a:xfrm>
            <a:off x="0" y="0"/>
            <a:ext cx="12191695" cy="6858000"/>
          </a:xfrm>
          <a:prstGeom prst="rect">
            <a:avLst/>
          </a:prstGeom>
        </p:spPr>
      </p:pic>
      <p:sp>
        <p:nvSpPr>
          <p:cNvPr id="3" name="Text 1"/>
          <p:cNvSpPr txBox="1"/>
          <p:nvPr/>
        </p:nvSpPr>
        <p:spPr>
          <a:xfrm>
            <a:off x="1066800" y="457200"/>
            <a:ext cx="601464" cy="304800"/>
          </a:xfrm>
          <a:prstGeom prst="rect">
            <a:avLst/>
          </a:prstGeom>
          <a:noFill/>
          <a:ln/>
        </p:spPr>
        <p:txBody>
          <a:bodyPr wrap="square" lIns="0" tIns="0" rIns="0" bIns="0" rtlCol="0" anchor="t"/>
          <a:lstStyle/>
          <a:p>
            <a:pPr algn="l" indent="0" marL="0">
              <a:lnSpc>
                <a:spcPts val="2000"/>
              </a:lnSpc>
              <a:buNone/>
            </a:pPr>
            <a:r>
              <a:rPr lang="en-US" sz="1800" dirty="0">
                <a:solidFill>
                  <a:srgbClr val="F4F4F5"/>
                </a:solidFill>
                <a:latin typeface="Instrument Serif" pitchFamily="34" charset="0"/>
                <a:ea typeface="Instrument Serif" pitchFamily="34" charset="-122"/>
                <a:cs typeface="Instrument Serif" pitchFamily="34" charset="-120"/>
              </a:rPr>
              <a:t>Suryo</a:t>
            </a:r>
            <a:endParaRPr lang="en-US" sz="1800" dirty="0"/>
          </a:p>
        </p:txBody>
      </p:sp>
      <p:sp>
        <p:nvSpPr>
          <p:cNvPr id="4" name="Text 2"/>
          <p:cNvSpPr txBox="1"/>
          <p:nvPr/>
        </p:nvSpPr>
        <p:spPr>
          <a:xfrm>
            <a:off x="10408841" y="520700"/>
            <a:ext cx="1021159" cy="193040"/>
          </a:xfrm>
          <a:prstGeom prst="rect">
            <a:avLst/>
          </a:prstGeom>
          <a:noFill/>
          <a:ln/>
        </p:spPr>
        <p:txBody>
          <a:bodyPr wrap="square" lIns="0" tIns="0" rIns="0" bIns="0" rtlCol="0" anchor="t"/>
          <a:lstStyle/>
          <a:p>
            <a:pPr algn="r" indent="0" marL="0">
              <a:lnSpc>
                <a:spcPts val="1200"/>
              </a:lnSpc>
              <a:buNone/>
            </a:pPr>
            <a:r>
              <a:rPr lang="en-US" sz="900" spc="144" kern="0" dirty="0">
                <a:solidFill>
                  <a:srgbClr val="8A8A93"/>
                </a:solidFill>
                <a:latin typeface="Geist Mono" pitchFamily="34" charset="0"/>
                <a:ea typeface="Geist Mono" pitchFamily="34" charset="-122"/>
                <a:cs typeface="Geist Mono" pitchFamily="34" charset="-120"/>
              </a:rPr>
              <a:t>07 · PROOF</a:t>
            </a:r>
            <a:endParaRPr lang="en-US" sz="900" dirty="0"/>
          </a:p>
        </p:txBody>
      </p:sp>
      <p:sp>
        <p:nvSpPr>
          <p:cNvPr id="5" name="Text 3"/>
          <p:cNvSpPr txBox="1"/>
          <p:nvPr/>
        </p:nvSpPr>
        <p:spPr>
          <a:xfrm>
            <a:off x="762000" y="1244600"/>
            <a:ext cx="10287000" cy="668020"/>
          </a:xfrm>
          <a:prstGeom prst="rect">
            <a:avLst/>
          </a:prstGeom>
          <a:noFill/>
          <a:ln/>
        </p:spPr>
        <p:txBody>
          <a:bodyPr wrap="square" lIns="0" tIns="0" rIns="0" bIns="0" rtlCol="0" anchor="t"/>
          <a:lstStyle/>
          <a:p>
            <a:pPr algn="l" indent="0" marL="0">
              <a:lnSpc>
                <a:spcPts val="4600"/>
              </a:lnSpc>
              <a:buNone/>
            </a:pPr>
            <a:r>
              <a:rPr lang="en-US" sz="4400" spc="-53" kern="0" dirty="0">
                <a:solidFill>
                  <a:srgbClr val="F4F4F5"/>
                </a:solidFill>
                <a:latin typeface="Instrument Serif" pitchFamily="34" charset="0"/>
                <a:ea typeface="Instrument Serif" pitchFamily="34" charset="-122"/>
                <a:cs typeface="Instrument Serif" pitchFamily="34" charset="-120"/>
              </a:rPr>
              <a:t>Proof, not a </a:t>
            </a:r>
            <a:pPr algn="l" indent="0" marL="0">
              <a:lnSpc>
                <a:spcPts val="4600"/>
              </a:lnSpc>
              <a:buNone/>
            </a:pPr>
            <a:r>
              <a:rPr lang="en-US" sz="4400" i="1" spc="-53" kern="0" dirty="0">
                <a:solidFill>
                  <a:srgbClr val="FF7A30"/>
                </a:solidFill>
                <a:latin typeface="Instrument Serif" pitchFamily="34" charset="0"/>
                <a:ea typeface="Instrument Serif" pitchFamily="34" charset="-122"/>
                <a:cs typeface="Instrument Serif" pitchFamily="34" charset="-120"/>
              </a:rPr>
              <a:t>lucky demo.</a:t>
            </a:r>
            <a:endParaRPr lang="en-US" sz="4400" dirty="0"/>
          </a:p>
        </p:txBody>
      </p:sp>
      <p:sp>
        <p:nvSpPr>
          <p:cNvPr id="6" name="Text 4"/>
          <p:cNvSpPr txBox="1"/>
          <p:nvPr/>
        </p:nvSpPr>
        <p:spPr>
          <a:xfrm>
            <a:off x="762000" y="2006600"/>
            <a:ext cx="6309360" cy="905510"/>
          </a:xfrm>
          <a:prstGeom prst="rect">
            <a:avLst/>
          </a:prstGeom>
          <a:noFill/>
          <a:ln/>
        </p:spPr>
        <p:txBody>
          <a:bodyPr wrap="square" lIns="0" tIns="0" rIns="0" bIns="0" rtlCol="0" anchor="t"/>
          <a:lstStyle/>
          <a:p>
            <a:pPr algn="l" indent="0" marL="0">
              <a:lnSpc>
                <a:spcPts val="2100"/>
              </a:lnSpc>
              <a:buNone/>
            </a:pPr>
            <a:r>
              <a:rPr lang="en-US" sz="1500" dirty="0">
                <a:solidFill>
                  <a:srgbClr val="A1A1AA"/>
                </a:solidFill>
                <a:latin typeface="Geist" pitchFamily="34" charset="0"/>
                <a:ea typeface="Geist" pitchFamily="34" charset="-122"/>
                <a:cs typeface="Geist" pitchFamily="34" charset="-120"/>
              </a:rPr>
              <a:t>Simulated customers run scripted scenarios through the real</a:t>
            </a:r>
            <a:br/>
            <a:pPr algn="l" indent="0" marL="0">
              <a:lnSpc>
                <a:spcPts val="2100"/>
              </a:lnSpc>
              <a:buNone/>
            </a:pPr>
            <a:r>
              <a:rPr lang="en-US" sz="1500" dirty="0">
                <a:solidFill>
                  <a:srgbClr val="A1A1AA"/>
                </a:solidFill>
                <a:latin typeface="Geist" pitchFamily="34" charset="0"/>
                <a:ea typeface="Geist" pitchFamily="34" charset="-122"/>
                <a:cs typeface="Geist" pitchFamily="34" charset="-120"/>
              </a:rPr>
              <a:t>agent. Deterministic checks on tools and database rows, plus an</a:t>
            </a:r>
            <a:br/>
            <a:pPr algn="l" indent="0" marL="0">
              <a:lnSpc>
                <a:spcPts val="2100"/>
              </a:lnSpc>
              <a:buNone/>
            </a:pPr>
            <a:r>
              <a:rPr lang="en-US" sz="1500" dirty="0">
                <a:solidFill>
                  <a:srgbClr val="A1A1AA"/>
                </a:solidFill>
                <a:latin typeface="Geist" pitchFamily="34" charset="0"/>
                <a:ea typeface="Geist" pitchFamily="34" charset="-122"/>
                <a:cs typeface="Geist" pitchFamily="34" charset="-120"/>
              </a:rPr>
              <a:t>LLM judge. A scenario passes only if all of it passes.</a:t>
            </a:r>
            <a:endParaRPr lang="en-US" sz="1500" dirty="0"/>
          </a:p>
        </p:txBody>
      </p:sp>
      <p:sp>
        <p:nvSpPr>
          <p:cNvPr id="7" name="Text 5"/>
          <p:cNvSpPr txBox="1"/>
          <p:nvPr/>
        </p:nvSpPr>
        <p:spPr>
          <a:xfrm>
            <a:off x="7493000" y="2159000"/>
            <a:ext cx="1542355" cy="193040"/>
          </a:xfrm>
          <a:prstGeom prst="rect">
            <a:avLst/>
          </a:prstGeom>
          <a:noFill/>
          <a:ln/>
        </p:spPr>
        <p:txBody>
          <a:bodyPr wrap="square" lIns="0" tIns="0" rIns="0" bIns="0" rtlCol="0" anchor="t"/>
          <a:lstStyle/>
          <a:p>
            <a:pPr algn="l" indent="0" marL="0">
              <a:lnSpc>
                <a:spcPts val="1200"/>
              </a:lnSpc>
              <a:buNone/>
            </a:pPr>
            <a:r>
              <a:rPr lang="en-US" sz="900" spc="144" kern="0" dirty="0">
                <a:solidFill>
                  <a:srgbClr val="8A8A93"/>
                </a:solidFill>
                <a:latin typeface="Geist Mono" pitchFamily="34" charset="0"/>
                <a:ea typeface="Geist Mono" pitchFamily="34" charset="-122"/>
                <a:cs typeface="Geist Mono" pitchFamily="34" charset="-120"/>
              </a:rPr>
              <a:t>MEASURED LATENCY</a:t>
            </a:r>
            <a:endParaRPr lang="en-US" sz="900" dirty="0"/>
          </a:p>
        </p:txBody>
      </p:sp>
      <p:sp>
        <p:nvSpPr>
          <p:cNvPr id="8" name="Text 6"/>
          <p:cNvSpPr txBox="1"/>
          <p:nvPr/>
        </p:nvSpPr>
        <p:spPr>
          <a:xfrm>
            <a:off x="7493000" y="5499100"/>
            <a:ext cx="1976636" cy="193040"/>
          </a:xfrm>
          <a:prstGeom prst="rect">
            <a:avLst/>
          </a:prstGeom>
          <a:noFill/>
          <a:ln/>
        </p:spPr>
        <p:txBody>
          <a:bodyPr wrap="square" lIns="0" tIns="0" rIns="0" bIns="0" rtlCol="0" anchor="t"/>
          <a:lstStyle/>
          <a:p>
            <a:pPr algn="l" indent="0" marL="0">
              <a:lnSpc>
                <a:spcPts val="1200"/>
              </a:lnSpc>
              <a:buNone/>
            </a:pPr>
            <a:r>
              <a:rPr lang="en-US" sz="900" spc="144" kern="0" dirty="0">
                <a:solidFill>
                  <a:srgbClr val="8A8A93"/>
                </a:solidFill>
                <a:latin typeface="Geist Mono" pitchFamily="34" charset="0"/>
                <a:ea typeface="Geist Mono" pitchFamily="34" charset="-122"/>
                <a:cs typeface="Geist Mono" pitchFamily="34" charset="-120"/>
              </a:rPr>
              <a:t>FINAL RUN, FULL MARKS</a:t>
            </a:r>
            <a:endParaRPr lang="en-US" sz="900" dirty="0"/>
          </a:p>
        </p:txBody>
      </p:sp>
      <p:sp>
        <p:nvSpPr>
          <p:cNvPr id="9" name="Text 7"/>
          <p:cNvSpPr txBox="1"/>
          <p:nvPr/>
        </p:nvSpPr>
        <p:spPr>
          <a:xfrm>
            <a:off x="7493000" y="5715000"/>
            <a:ext cx="4389120" cy="472440"/>
          </a:xfrm>
          <a:prstGeom prst="rect">
            <a:avLst/>
          </a:prstGeom>
          <a:noFill/>
          <a:ln/>
        </p:spPr>
        <p:txBody>
          <a:bodyPr wrap="square" lIns="0" tIns="0" rIns="0" bIns="0" rtlCol="0" anchor="t"/>
          <a:lstStyle/>
          <a:p>
            <a:pPr algn="l" indent="0" marL="0">
              <a:lnSpc>
                <a:spcPts val="1600"/>
              </a:lnSpc>
              <a:buNone/>
            </a:pPr>
            <a:r>
              <a:rPr lang="en-US" sz="1100" dirty="0">
                <a:solidFill>
                  <a:srgbClr val="F4F4F5"/>
                </a:solidFill>
                <a:latin typeface="Geist" pitchFamily="34" charset="0"/>
                <a:ea typeface="Geist" pitchFamily="34" charset="-122"/>
                <a:cs typeface="Geist" pitchFamily="34" charset="-120"/>
              </a:rPr>
              <a:t>Escalation 3/3 · Safety 3/3 · Language 2/2</a:t>
            </a:r>
            <a:br/>
            <a:pPr algn="l" indent="0" marL="0">
              <a:lnSpc>
                <a:spcPts val="1600"/>
              </a:lnSpc>
              <a:buNone/>
            </a:pPr>
            <a:r>
              <a:rPr lang="en-US" sz="1100" dirty="0">
                <a:solidFill>
                  <a:srgbClr val="F4F4F5"/>
                </a:solidFill>
                <a:latin typeface="Geist" pitchFamily="34" charset="0"/>
                <a:ea typeface="Geist" pitchFamily="34" charset="-122"/>
                <a:cs typeface="Geist" pitchFamily="34" charset="-120"/>
              </a:rPr>
              <a:t>Ambiguity 2/2 · Cancel 2/2 · Tickets 2/2 · Out of scope 2/2</a:t>
            </a:r>
            <a:endParaRPr lang="en-US" sz="1100" dirty="0"/>
          </a:p>
        </p:txBody>
      </p:sp>
      <p:sp>
        <p:nvSpPr>
          <p:cNvPr id="10" name="Text 8"/>
          <p:cNvSpPr txBox="1"/>
          <p:nvPr/>
        </p:nvSpPr>
        <p:spPr>
          <a:xfrm>
            <a:off x="10701437" y="6299200"/>
            <a:ext cx="728563" cy="193040"/>
          </a:xfrm>
          <a:prstGeom prst="rect">
            <a:avLst/>
          </a:prstGeom>
          <a:noFill/>
          <a:ln/>
        </p:spPr>
        <p:txBody>
          <a:bodyPr wrap="square" lIns="0" tIns="0" rIns="0" bIns="0" rtlCol="0" anchor="t"/>
          <a:lstStyle/>
          <a:p>
            <a:pPr algn="r" indent="0" marL="0">
              <a:lnSpc>
                <a:spcPts val="1200"/>
              </a:lnSpc>
              <a:buNone/>
            </a:pPr>
            <a:r>
              <a:rPr lang="en-US" sz="900" spc="108" kern="0" dirty="0">
                <a:solidFill>
                  <a:srgbClr val="52525B"/>
                </a:solidFill>
                <a:latin typeface="Geist Mono" pitchFamily="34" charset="0"/>
                <a:ea typeface="Geist Mono" pitchFamily="34" charset="-122"/>
                <a:cs typeface="Geist Mono" pitchFamily="34" charset="-120"/>
              </a:rPr>
              <a:t>08 / 11</a:t>
            </a:r>
            <a:endParaRPr lang="en-US" sz="900" dirty="0"/>
          </a:p>
        </p:txBody>
      </p:sp>
      <p:sp>
        <p:nvSpPr>
          <p:cNvPr id="11" name="Text 9"/>
          <p:cNvSpPr txBox="1"/>
          <p:nvPr/>
        </p:nvSpPr>
        <p:spPr>
          <a:xfrm>
            <a:off x="762000" y="4006850"/>
            <a:ext cx="1041400" cy="500380"/>
          </a:xfrm>
          <a:prstGeom prst="rect">
            <a:avLst/>
          </a:prstGeom>
          <a:noFill/>
          <a:ln/>
        </p:spPr>
        <p:txBody>
          <a:bodyPr wrap="square" lIns="0" tIns="0" rIns="0" bIns="0" rtlCol="0" anchor="t"/>
          <a:lstStyle/>
          <a:p>
            <a:pPr algn="l" indent="0" marL="0">
              <a:lnSpc>
                <a:spcPts val="3000"/>
              </a:lnSpc>
              <a:buNone/>
            </a:pPr>
            <a:r>
              <a:rPr lang="en-US" sz="2800" spc="-28" kern="0" dirty="0">
                <a:solidFill>
                  <a:srgbClr val="F4F4F5"/>
                </a:solidFill>
                <a:latin typeface="Instrument Serif" pitchFamily="34" charset="0"/>
                <a:ea typeface="Instrument Serif" pitchFamily="34" charset="-122"/>
                <a:cs typeface="Instrument Serif" pitchFamily="34" charset="-120"/>
              </a:rPr>
              <a:t>19</a:t>
            </a:r>
            <a:pPr algn="l" indent="0" marL="0">
              <a:lnSpc>
                <a:spcPts val="3000"/>
              </a:lnSpc>
              <a:buNone/>
            </a:pPr>
            <a:r>
              <a:rPr lang="en-US" sz="1700" spc="-28" kern="0" dirty="0">
                <a:solidFill>
                  <a:srgbClr val="8A8A93"/>
                </a:solidFill>
                <a:latin typeface="Instrument Serif" pitchFamily="34" charset="0"/>
                <a:ea typeface="Instrument Serif" pitchFamily="34" charset="-122"/>
                <a:cs typeface="Instrument Serif" pitchFamily="34" charset="-120"/>
              </a:rPr>
              <a:t> of 35</a:t>
            </a:r>
            <a:endParaRPr lang="en-US" sz="2800" dirty="0"/>
          </a:p>
        </p:txBody>
      </p:sp>
      <p:sp>
        <p:nvSpPr>
          <p:cNvPr id="12" name="Text 10"/>
          <p:cNvSpPr txBox="1"/>
          <p:nvPr/>
        </p:nvSpPr>
        <p:spPr>
          <a:xfrm>
            <a:off x="762000" y="5715000"/>
            <a:ext cx="1231900" cy="193040"/>
          </a:xfrm>
          <a:prstGeom prst="rect">
            <a:avLst/>
          </a:prstGeom>
          <a:noFill/>
          <a:ln/>
        </p:spPr>
        <p:txBody>
          <a:bodyPr wrap="square" lIns="0" tIns="0" rIns="0" bIns="0" rtlCol="0" anchor="t"/>
          <a:lstStyle/>
          <a:p>
            <a:pPr algn="l" indent="0" marL="0">
              <a:lnSpc>
                <a:spcPts val="1200"/>
              </a:lnSpc>
              <a:buNone/>
            </a:pPr>
            <a:r>
              <a:rPr lang="en-US" sz="900" spc="144" kern="0" dirty="0">
                <a:solidFill>
                  <a:srgbClr val="A1A1AA"/>
                </a:solidFill>
                <a:latin typeface="Geist Mono" pitchFamily="34" charset="0"/>
                <a:ea typeface="Geist Mono" pitchFamily="34" charset="-122"/>
                <a:cs typeface="Geist Mono" pitchFamily="34" charset="-120"/>
              </a:rPr>
              <a:t>RUN 1</a:t>
            </a:r>
            <a:endParaRPr lang="en-US" sz="900" dirty="0"/>
          </a:p>
        </p:txBody>
      </p:sp>
      <p:sp>
        <p:nvSpPr>
          <p:cNvPr id="13" name="Text 11"/>
          <p:cNvSpPr txBox="1"/>
          <p:nvPr/>
        </p:nvSpPr>
        <p:spPr>
          <a:xfrm>
            <a:off x="762000" y="5905500"/>
            <a:ext cx="1270000" cy="220980"/>
          </a:xfrm>
          <a:prstGeom prst="rect">
            <a:avLst/>
          </a:prstGeom>
          <a:noFill/>
          <a:ln/>
        </p:spPr>
        <p:txBody>
          <a:bodyPr wrap="square" lIns="0" tIns="0" rIns="0" bIns="0" rtlCol="0" anchor="t"/>
          <a:lstStyle/>
          <a:p>
            <a:pPr algn="l" indent="0" marL="0">
              <a:lnSpc>
                <a:spcPts val="1400"/>
              </a:lnSpc>
              <a:buNone/>
            </a:pPr>
            <a:r>
              <a:rPr lang="en-US" sz="1000" dirty="0">
                <a:solidFill>
                  <a:srgbClr val="8A8A93"/>
                </a:solidFill>
                <a:latin typeface="Geist" pitchFamily="34" charset="0"/>
                <a:ea typeface="Geist" pitchFamily="34" charset="-122"/>
                <a:cs typeface="Geist" pitchFamily="34" charset="-120"/>
              </a:rPr>
              <a:t>Harness bugs</a:t>
            </a:r>
            <a:endParaRPr lang="en-US" sz="1000" dirty="0"/>
          </a:p>
        </p:txBody>
      </p:sp>
      <p:sp>
        <p:nvSpPr>
          <p:cNvPr id="14" name="Text 12"/>
          <p:cNvSpPr txBox="1"/>
          <p:nvPr/>
        </p:nvSpPr>
        <p:spPr>
          <a:xfrm>
            <a:off x="1905000" y="3708400"/>
            <a:ext cx="1041400" cy="500380"/>
          </a:xfrm>
          <a:prstGeom prst="rect">
            <a:avLst/>
          </a:prstGeom>
          <a:noFill/>
          <a:ln/>
        </p:spPr>
        <p:txBody>
          <a:bodyPr wrap="square" lIns="0" tIns="0" rIns="0" bIns="0" rtlCol="0" anchor="t"/>
          <a:lstStyle/>
          <a:p>
            <a:pPr algn="l" indent="0" marL="0">
              <a:lnSpc>
                <a:spcPts val="3000"/>
              </a:lnSpc>
              <a:buNone/>
            </a:pPr>
            <a:r>
              <a:rPr lang="en-US" sz="2800" spc="-28" kern="0" dirty="0">
                <a:solidFill>
                  <a:srgbClr val="F4F4F5"/>
                </a:solidFill>
                <a:latin typeface="Instrument Serif" pitchFamily="34" charset="0"/>
                <a:ea typeface="Instrument Serif" pitchFamily="34" charset="-122"/>
                <a:cs typeface="Instrument Serif" pitchFamily="34" charset="-120"/>
              </a:rPr>
              <a:t>24</a:t>
            </a:r>
            <a:pPr algn="l" indent="0" marL="0">
              <a:lnSpc>
                <a:spcPts val="3000"/>
              </a:lnSpc>
              <a:buNone/>
            </a:pPr>
            <a:r>
              <a:rPr lang="en-US" sz="1700" spc="-28" kern="0" dirty="0">
                <a:solidFill>
                  <a:srgbClr val="8A8A93"/>
                </a:solidFill>
                <a:latin typeface="Instrument Serif" pitchFamily="34" charset="0"/>
                <a:ea typeface="Instrument Serif" pitchFamily="34" charset="-122"/>
                <a:cs typeface="Instrument Serif" pitchFamily="34" charset="-120"/>
              </a:rPr>
              <a:t> of 35</a:t>
            </a:r>
            <a:endParaRPr lang="en-US" sz="2800" dirty="0"/>
          </a:p>
        </p:txBody>
      </p:sp>
      <p:sp>
        <p:nvSpPr>
          <p:cNvPr id="15" name="Text 13"/>
          <p:cNvSpPr txBox="1"/>
          <p:nvPr/>
        </p:nvSpPr>
        <p:spPr>
          <a:xfrm>
            <a:off x="1905000" y="5715000"/>
            <a:ext cx="1231900" cy="193040"/>
          </a:xfrm>
          <a:prstGeom prst="rect">
            <a:avLst/>
          </a:prstGeom>
          <a:noFill/>
          <a:ln/>
        </p:spPr>
        <p:txBody>
          <a:bodyPr wrap="square" lIns="0" tIns="0" rIns="0" bIns="0" rtlCol="0" anchor="t"/>
          <a:lstStyle/>
          <a:p>
            <a:pPr algn="l" indent="0" marL="0">
              <a:lnSpc>
                <a:spcPts val="1200"/>
              </a:lnSpc>
              <a:buNone/>
            </a:pPr>
            <a:r>
              <a:rPr lang="en-US" sz="900" spc="144" kern="0" dirty="0">
                <a:solidFill>
                  <a:srgbClr val="A1A1AA"/>
                </a:solidFill>
                <a:latin typeface="Geist Mono" pitchFamily="34" charset="0"/>
                <a:ea typeface="Geist Mono" pitchFamily="34" charset="-122"/>
                <a:cs typeface="Geist Mono" pitchFamily="34" charset="-120"/>
              </a:rPr>
              <a:t>RUN 2</a:t>
            </a:r>
            <a:endParaRPr lang="en-US" sz="900" dirty="0"/>
          </a:p>
        </p:txBody>
      </p:sp>
      <p:sp>
        <p:nvSpPr>
          <p:cNvPr id="16" name="Text 14"/>
          <p:cNvSpPr txBox="1"/>
          <p:nvPr/>
        </p:nvSpPr>
        <p:spPr>
          <a:xfrm>
            <a:off x="1905000" y="5905500"/>
            <a:ext cx="1270000" cy="220980"/>
          </a:xfrm>
          <a:prstGeom prst="rect">
            <a:avLst/>
          </a:prstGeom>
          <a:noFill/>
          <a:ln/>
        </p:spPr>
        <p:txBody>
          <a:bodyPr wrap="square" lIns="0" tIns="0" rIns="0" bIns="0" rtlCol="0" anchor="t"/>
          <a:lstStyle/>
          <a:p>
            <a:pPr algn="l" indent="0" marL="0">
              <a:lnSpc>
                <a:spcPts val="1400"/>
              </a:lnSpc>
              <a:buNone/>
            </a:pPr>
            <a:r>
              <a:rPr lang="en-US" sz="1000" dirty="0">
                <a:solidFill>
                  <a:srgbClr val="8A8A93"/>
                </a:solidFill>
                <a:latin typeface="Geist" pitchFamily="34" charset="0"/>
                <a:ea typeface="Geist" pitchFamily="34" charset="-122"/>
                <a:cs typeface="Geist" pitchFamily="34" charset="-120"/>
              </a:rPr>
              <a:t>Harness fixed</a:t>
            </a:r>
            <a:endParaRPr lang="en-US" sz="1000" dirty="0"/>
          </a:p>
        </p:txBody>
      </p:sp>
      <p:sp>
        <p:nvSpPr>
          <p:cNvPr id="17" name="Text 15"/>
          <p:cNvSpPr txBox="1"/>
          <p:nvPr/>
        </p:nvSpPr>
        <p:spPr>
          <a:xfrm>
            <a:off x="3048000" y="3289300"/>
            <a:ext cx="1041400" cy="500380"/>
          </a:xfrm>
          <a:prstGeom prst="rect">
            <a:avLst/>
          </a:prstGeom>
          <a:noFill/>
          <a:ln/>
        </p:spPr>
        <p:txBody>
          <a:bodyPr wrap="square" lIns="0" tIns="0" rIns="0" bIns="0" rtlCol="0" anchor="t"/>
          <a:lstStyle/>
          <a:p>
            <a:pPr algn="l" indent="0" marL="0">
              <a:lnSpc>
                <a:spcPts val="3000"/>
              </a:lnSpc>
              <a:buNone/>
            </a:pPr>
            <a:r>
              <a:rPr lang="en-US" sz="2800" spc="-28" kern="0" dirty="0">
                <a:solidFill>
                  <a:srgbClr val="F4F4F5"/>
                </a:solidFill>
                <a:latin typeface="Instrument Serif" pitchFamily="34" charset="0"/>
                <a:ea typeface="Instrument Serif" pitchFamily="34" charset="-122"/>
                <a:cs typeface="Instrument Serif" pitchFamily="34" charset="-120"/>
              </a:rPr>
              <a:t>31</a:t>
            </a:r>
            <a:pPr algn="l" indent="0" marL="0">
              <a:lnSpc>
                <a:spcPts val="3000"/>
              </a:lnSpc>
              <a:buNone/>
            </a:pPr>
            <a:r>
              <a:rPr lang="en-US" sz="1700" spc="-28" kern="0" dirty="0">
                <a:solidFill>
                  <a:srgbClr val="8A8A93"/>
                </a:solidFill>
                <a:latin typeface="Instrument Serif" pitchFamily="34" charset="0"/>
                <a:ea typeface="Instrument Serif" pitchFamily="34" charset="-122"/>
                <a:cs typeface="Instrument Serif" pitchFamily="34" charset="-120"/>
              </a:rPr>
              <a:t> of 35</a:t>
            </a:r>
            <a:endParaRPr lang="en-US" sz="2800" dirty="0"/>
          </a:p>
        </p:txBody>
      </p:sp>
      <p:sp>
        <p:nvSpPr>
          <p:cNvPr id="18" name="Text 16"/>
          <p:cNvSpPr txBox="1"/>
          <p:nvPr/>
        </p:nvSpPr>
        <p:spPr>
          <a:xfrm>
            <a:off x="3048000" y="5715000"/>
            <a:ext cx="1231900" cy="193040"/>
          </a:xfrm>
          <a:prstGeom prst="rect">
            <a:avLst/>
          </a:prstGeom>
          <a:noFill/>
          <a:ln/>
        </p:spPr>
        <p:txBody>
          <a:bodyPr wrap="square" lIns="0" tIns="0" rIns="0" bIns="0" rtlCol="0" anchor="t"/>
          <a:lstStyle/>
          <a:p>
            <a:pPr algn="l" indent="0" marL="0">
              <a:lnSpc>
                <a:spcPts val="1200"/>
              </a:lnSpc>
              <a:buNone/>
            </a:pPr>
            <a:r>
              <a:rPr lang="en-US" sz="900" spc="144" kern="0" dirty="0">
                <a:solidFill>
                  <a:srgbClr val="A1A1AA"/>
                </a:solidFill>
                <a:latin typeface="Geist Mono" pitchFamily="34" charset="0"/>
                <a:ea typeface="Geist Mono" pitchFamily="34" charset="-122"/>
                <a:cs typeface="Geist Mono" pitchFamily="34" charset="-120"/>
              </a:rPr>
              <a:t>RUN 3</a:t>
            </a:r>
            <a:endParaRPr lang="en-US" sz="900" dirty="0"/>
          </a:p>
        </p:txBody>
      </p:sp>
      <p:sp>
        <p:nvSpPr>
          <p:cNvPr id="19" name="Text 17"/>
          <p:cNvSpPr txBox="1"/>
          <p:nvPr/>
        </p:nvSpPr>
        <p:spPr>
          <a:xfrm>
            <a:off x="3048000" y="5905500"/>
            <a:ext cx="1270000" cy="220980"/>
          </a:xfrm>
          <a:prstGeom prst="rect">
            <a:avLst/>
          </a:prstGeom>
          <a:noFill/>
          <a:ln/>
        </p:spPr>
        <p:txBody>
          <a:bodyPr wrap="square" lIns="0" tIns="0" rIns="0" bIns="0" rtlCol="0" anchor="t"/>
          <a:lstStyle/>
          <a:p>
            <a:pPr algn="l" indent="0" marL="0">
              <a:lnSpc>
                <a:spcPts val="1400"/>
              </a:lnSpc>
              <a:buNone/>
            </a:pPr>
            <a:r>
              <a:rPr lang="en-US" sz="1000" dirty="0">
                <a:solidFill>
                  <a:srgbClr val="8A8A93"/>
                </a:solidFill>
                <a:latin typeface="Geist" pitchFamily="34" charset="0"/>
                <a:ea typeface="Geist" pitchFamily="34" charset="-122"/>
                <a:cs typeface="Geist" pitchFamily="34" charset="-120"/>
              </a:rPr>
              <a:t>Fixed at source</a:t>
            </a:r>
            <a:endParaRPr lang="en-US" sz="1000" dirty="0"/>
          </a:p>
        </p:txBody>
      </p:sp>
      <p:sp>
        <p:nvSpPr>
          <p:cNvPr id="20" name="Text 18"/>
          <p:cNvSpPr txBox="1"/>
          <p:nvPr/>
        </p:nvSpPr>
        <p:spPr>
          <a:xfrm>
            <a:off x="4191000" y="3486150"/>
            <a:ext cx="1041400" cy="500380"/>
          </a:xfrm>
          <a:prstGeom prst="rect">
            <a:avLst/>
          </a:prstGeom>
          <a:noFill/>
          <a:ln/>
        </p:spPr>
        <p:txBody>
          <a:bodyPr wrap="square" lIns="0" tIns="0" rIns="0" bIns="0" rtlCol="0" anchor="t"/>
          <a:lstStyle/>
          <a:p>
            <a:pPr algn="l" indent="0" marL="0">
              <a:lnSpc>
                <a:spcPts val="3000"/>
              </a:lnSpc>
              <a:buNone/>
            </a:pPr>
            <a:r>
              <a:rPr lang="en-US" sz="2800" spc="-28" kern="0" dirty="0">
                <a:solidFill>
                  <a:srgbClr val="F4F4F5"/>
                </a:solidFill>
                <a:latin typeface="Instrument Serif" pitchFamily="34" charset="0"/>
                <a:ea typeface="Instrument Serif" pitchFamily="34" charset="-122"/>
                <a:cs typeface="Instrument Serif" pitchFamily="34" charset="-120"/>
              </a:rPr>
              <a:t>34</a:t>
            </a:r>
            <a:pPr algn="l" indent="0" marL="0">
              <a:lnSpc>
                <a:spcPts val="3000"/>
              </a:lnSpc>
              <a:buNone/>
            </a:pPr>
            <a:r>
              <a:rPr lang="en-US" sz="1700" spc="-28" kern="0" dirty="0">
                <a:solidFill>
                  <a:srgbClr val="8A8A93"/>
                </a:solidFill>
                <a:latin typeface="Instrument Serif" pitchFamily="34" charset="0"/>
                <a:ea typeface="Instrument Serif" pitchFamily="34" charset="-122"/>
                <a:cs typeface="Instrument Serif" pitchFamily="34" charset="-120"/>
              </a:rPr>
              <a:t> of 43</a:t>
            </a:r>
            <a:endParaRPr lang="en-US" sz="2800" dirty="0"/>
          </a:p>
        </p:txBody>
      </p:sp>
      <p:sp>
        <p:nvSpPr>
          <p:cNvPr id="21" name="Text 19"/>
          <p:cNvSpPr txBox="1"/>
          <p:nvPr/>
        </p:nvSpPr>
        <p:spPr>
          <a:xfrm>
            <a:off x="4191000" y="5715000"/>
            <a:ext cx="1231900" cy="193040"/>
          </a:xfrm>
          <a:prstGeom prst="rect">
            <a:avLst/>
          </a:prstGeom>
          <a:noFill/>
          <a:ln/>
        </p:spPr>
        <p:txBody>
          <a:bodyPr wrap="square" lIns="0" tIns="0" rIns="0" bIns="0" rtlCol="0" anchor="t"/>
          <a:lstStyle/>
          <a:p>
            <a:pPr algn="l" indent="0" marL="0">
              <a:lnSpc>
                <a:spcPts val="1200"/>
              </a:lnSpc>
              <a:buNone/>
            </a:pPr>
            <a:r>
              <a:rPr lang="en-US" sz="900" spc="144" kern="0" dirty="0">
                <a:solidFill>
                  <a:srgbClr val="A1A1AA"/>
                </a:solidFill>
                <a:latin typeface="Geist Mono" pitchFamily="34" charset="0"/>
                <a:ea typeface="Geist Mono" pitchFamily="34" charset="-122"/>
                <a:cs typeface="Geist Mono" pitchFamily="34" charset="-120"/>
              </a:rPr>
              <a:t>RUN 4</a:t>
            </a:r>
            <a:endParaRPr lang="en-US" sz="900" dirty="0"/>
          </a:p>
        </p:txBody>
      </p:sp>
      <p:sp>
        <p:nvSpPr>
          <p:cNvPr id="22" name="Text 20"/>
          <p:cNvSpPr txBox="1"/>
          <p:nvPr/>
        </p:nvSpPr>
        <p:spPr>
          <a:xfrm>
            <a:off x="4191000" y="5905500"/>
            <a:ext cx="1270000" cy="220980"/>
          </a:xfrm>
          <a:prstGeom prst="rect">
            <a:avLst/>
          </a:prstGeom>
          <a:noFill/>
          <a:ln/>
        </p:spPr>
        <p:txBody>
          <a:bodyPr wrap="square" lIns="0" tIns="0" rIns="0" bIns="0" rtlCol="0" anchor="t"/>
          <a:lstStyle/>
          <a:p>
            <a:pPr algn="l" indent="0" marL="0">
              <a:lnSpc>
                <a:spcPts val="1400"/>
              </a:lnSpc>
              <a:buNone/>
            </a:pPr>
            <a:r>
              <a:rPr lang="en-US" sz="1000" dirty="0">
                <a:solidFill>
                  <a:srgbClr val="8A8A93"/>
                </a:solidFill>
                <a:latin typeface="Geist" pitchFamily="34" charset="0"/>
                <a:ea typeface="Geist" pitchFamily="34" charset="-122"/>
                <a:cs typeface="Geist" pitchFamily="34" charset="-120"/>
              </a:rPr>
              <a:t>Quota ran out</a:t>
            </a:r>
            <a:endParaRPr lang="en-US" sz="1000" dirty="0"/>
          </a:p>
        </p:txBody>
      </p:sp>
      <p:sp>
        <p:nvSpPr>
          <p:cNvPr id="23" name="Text 21"/>
          <p:cNvSpPr txBox="1"/>
          <p:nvPr/>
        </p:nvSpPr>
        <p:spPr>
          <a:xfrm>
            <a:off x="5334000" y="3340100"/>
            <a:ext cx="1041400" cy="500380"/>
          </a:xfrm>
          <a:prstGeom prst="rect">
            <a:avLst/>
          </a:prstGeom>
          <a:noFill/>
          <a:ln/>
        </p:spPr>
        <p:txBody>
          <a:bodyPr wrap="square" lIns="0" tIns="0" rIns="0" bIns="0" rtlCol="0" anchor="t"/>
          <a:lstStyle/>
          <a:p>
            <a:pPr algn="l" indent="0" marL="0">
              <a:lnSpc>
                <a:spcPts val="3000"/>
              </a:lnSpc>
              <a:buNone/>
            </a:pPr>
            <a:r>
              <a:rPr lang="en-US" sz="2800" spc="-28" kern="0" dirty="0">
                <a:solidFill>
                  <a:srgbClr val="FF7A30"/>
                </a:solidFill>
                <a:latin typeface="Instrument Serif" pitchFamily="34" charset="0"/>
                <a:ea typeface="Instrument Serif" pitchFamily="34" charset="-122"/>
                <a:cs typeface="Instrument Serif" pitchFamily="34" charset="-120"/>
              </a:rPr>
              <a:t>37</a:t>
            </a:r>
            <a:pPr algn="l" indent="0" marL="0">
              <a:lnSpc>
                <a:spcPts val="3000"/>
              </a:lnSpc>
              <a:buNone/>
            </a:pPr>
            <a:r>
              <a:rPr lang="en-US" sz="1700" spc="-28" kern="0" dirty="0">
                <a:solidFill>
                  <a:srgbClr val="FFB07A"/>
                </a:solidFill>
                <a:latin typeface="Instrument Serif" pitchFamily="34" charset="0"/>
                <a:ea typeface="Instrument Serif" pitchFamily="34" charset="-122"/>
                <a:cs typeface="Instrument Serif" pitchFamily="34" charset="-120"/>
              </a:rPr>
              <a:t> of 43</a:t>
            </a:r>
            <a:endParaRPr lang="en-US" sz="2800" dirty="0"/>
          </a:p>
        </p:txBody>
      </p:sp>
      <p:sp>
        <p:nvSpPr>
          <p:cNvPr id="24" name="Text 22"/>
          <p:cNvSpPr txBox="1"/>
          <p:nvPr/>
        </p:nvSpPr>
        <p:spPr>
          <a:xfrm>
            <a:off x="5334000" y="5715000"/>
            <a:ext cx="1231900" cy="193040"/>
          </a:xfrm>
          <a:prstGeom prst="rect">
            <a:avLst/>
          </a:prstGeom>
          <a:noFill/>
          <a:ln/>
        </p:spPr>
        <p:txBody>
          <a:bodyPr wrap="square" lIns="0" tIns="0" rIns="0" bIns="0" rtlCol="0" anchor="t"/>
          <a:lstStyle/>
          <a:p>
            <a:pPr algn="l" indent="0" marL="0">
              <a:lnSpc>
                <a:spcPts val="1200"/>
              </a:lnSpc>
              <a:buNone/>
            </a:pPr>
            <a:r>
              <a:rPr lang="en-US" sz="900" spc="144" kern="0" dirty="0">
                <a:solidFill>
                  <a:srgbClr val="FF7A30"/>
                </a:solidFill>
                <a:latin typeface="Geist Mono" pitchFamily="34" charset="0"/>
                <a:ea typeface="Geist Mono" pitchFamily="34" charset="-122"/>
                <a:cs typeface="Geist Mono" pitchFamily="34" charset="-120"/>
              </a:rPr>
              <a:t>FINAL</a:t>
            </a:r>
            <a:endParaRPr lang="en-US" sz="900" dirty="0"/>
          </a:p>
        </p:txBody>
      </p:sp>
      <p:sp>
        <p:nvSpPr>
          <p:cNvPr id="25" name="Text 23"/>
          <p:cNvSpPr txBox="1"/>
          <p:nvPr/>
        </p:nvSpPr>
        <p:spPr>
          <a:xfrm>
            <a:off x="5334000" y="5905500"/>
            <a:ext cx="1270000" cy="220980"/>
          </a:xfrm>
          <a:prstGeom prst="rect">
            <a:avLst/>
          </a:prstGeom>
          <a:noFill/>
          <a:ln/>
        </p:spPr>
        <p:txBody>
          <a:bodyPr wrap="square" lIns="0" tIns="0" rIns="0" bIns="0" rtlCol="0" anchor="t"/>
          <a:lstStyle/>
          <a:p>
            <a:pPr algn="l" indent="0" marL="0">
              <a:lnSpc>
                <a:spcPts val="1400"/>
              </a:lnSpc>
              <a:buNone/>
            </a:pPr>
            <a:r>
              <a:rPr lang="en-US" sz="1000" dirty="0">
                <a:solidFill>
                  <a:srgbClr val="8A8A93"/>
                </a:solidFill>
                <a:latin typeface="Geist" pitchFamily="34" charset="0"/>
                <a:ea typeface="Geist" pitchFamily="34" charset="-122"/>
                <a:cs typeface="Geist" pitchFamily="34" charset="-120"/>
              </a:rPr>
              <a:t>Re-embedded</a:t>
            </a:r>
            <a:endParaRPr lang="en-US" sz="1000" dirty="0"/>
          </a:p>
        </p:txBody>
      </p:sp>
      <p:sp>
        <p:nvSpPr>
          <p:cNvPr id="26" name="Text 24"/>
          <p:cNvSpPr txBox="1"/>
          <p:nvPr/>
        </p:nvSpPr>
        <p:spPr>
          <a:xfrm>
            <a:off x="7467600" y="2413000"/>
            <a:ext cx="1930400" cy="807720"/>
          </a:xfrm>
          <a:prstGeom prst="rect">
            <a:avLst/>
          </a:prstGeom>
          <a:noFill/>
          <a:ln/>
        </p:spPr>
        <p:txBody>
          <a:bodyPr wrap="square" lIns="0" tIns="0" rIns="0" bIns="0" rtlCol="0" anchor="t"/>
          <a:lstStyle/>
          <a:p>
            <a:pPr algn="l" indent="0" marL="0">
              <a:lnSpc>
                <a:spcPts val="5600"/>
              </a:lnSpc>
              <a:buNone/>
            </a:pPr>
            <a:r>
              <a:rPr lang="en-US" sz="5600" spc="-112" kern="0" dirty="0">
                <a:solidFill>
                  <a:srgbClr val="FF7A30"/>
                </a:solidFill>
                <a:latin typeface="Instrument Serif" pitchFamily="34" charset="0"/>
                <a:ea typeface="Instrument Serif" pitchFamily="34" charset="-122"/>
                <a:cs typeface="Instrument Serif" pitchFamily="34" charset="-120"/>
              </a:rPr>
              <a:t>1.5 s</a:t>
            </a:r>
            <a:endParaRPr lang="en-US" sz="5600" dirty="0"/>
          </a:p>
        </p:txBody>
      </p:sp>
      <p:sp>
        <p:nvSpPr>
          <p:cNvPr id="27" name="Text 25"/>
          <p:cNvSpPr txBox="1"/>
          <p:nvPr/>
        </p:nvSpPr>
        <p:spPr>
          <a:xfrm>
            <a:off x="9334500" y="2590800"/>
            <a:ext cx="2263140" cy="737870"/>
          </a:xfrm>
          <a:prstGeom prst="rect">
            <a:avLst/>
          </a:prstGeom>
          <a:noFill/>
          <a:ln/>
        </p:spPr>
        <p:txBody>
          <a:bodyPr wrap="square" lIns="0" tIns="0" rIns="0" bIns="0" rtlCol="0" anchor="t"/>
          <a:lstStyle/>
          <a:p>
            <a:pPr algn="l" indent="0" marL="0">
              <a:lnSpc>
                <a:spcPts val="1700"/>
              </a:lnSpc>
              <a:buNone/>
            </a:pPr>
            <a:r>
              <a:rPr lang="en-US" sz="1200" dirty="0">
                <a:solidFill>
                  <a:srgbClr val="A1A1AA"/>
                </a:solidFill>
                <a:latin typeface="Geist" pitchFamily="34" charset="0"/>
                <a:ea typeface="Geist" pitchFamily="34" charset="-122"/>
                <a:cs typeface="Geist" pitchFamily="34" charset="-120"/>
              </a:rPr>
              <a:t>Voice, end of speech to first</a:t>
            </a:r>
            <a:br/>
            <a:pPr algn="l" indent="0" marL="0">
              <a:lnSpc>
                <a:spcPts val="1700"/>
              </a:lnSpc>
              <a:buNone/>
            </a:pPr>
            <a:r>
              <a:rPr lang="en-US" sz="1200" dirty="0">
                <a:solidFill>
                  <a:srgbClr val="A1A1AA"/>
                </a:solidFill>
                <a:latin typeface="Geist" pitchFamily="34" charset="0"/>
                <a:ea typeface="Geist" pitchFamily="34" charset="-122"/>
                <a:cs typeface="Geist" pitchFamily="34" charset="-120"/>
              </a:rPr>
              <a:t>audio. Median, tool call</a:t>
            </a:r>
            <a:br/>
            <a:pPr algn="l" indent="0" marL="0">
              <a:lnSpc>
                <a:spcPts val="1700"/>
              </a:lnSpc>
              <a:buNone/>
            </a:pPr>
            <a:r>
              <a:rPr lang="en-US" sz="1200" dirty="0">
                <a:solidFill>
                  <a:srgbClr val="A1A1AA"/>
                </a:solidFill>
                <a:latin typeface="Geist" pitchFamily="34" charset="0"/>
                <a:ea typeface="Geist" pitchFamily="34" charset="-122"/>
                <a:cs typeface="Geist" pitchFamily="34" charset="-120"/>
              </a:rPr>
              <a:t>included.</a:t>
            </a:r>
            <a:endParaRPr lang="en-US" sz="1200" dirty="0"/>
          </a:p>
        </p:txBody>
      </p:sp>
      <p:sp>
        <p:nvSpPr>
          <p:cNvPr id="28" name="Text 26"/>
          <p:cNvSpPr txBox="1"/>
          <p:nvPr/>
        </p:nvSpPr>
        <p:spPr>
          <a:xfrm>
            <a:off x="7467600" y="3467100"/>
            <a:ext cx="1930400" cy="807720"/>
          </a:xfrm>
          <a:prstGeom prst="rect">
            <a:avLst/>
          </a:prstGeom>
          <a:noFill/>
          <a:ln/>
        </p:spPr>
        <p:txBody>
          <a:bodyPr wrap="square" lIns="0" tIns="0" rIns="0" bIns="0" rtlCol="0" anchor="t"/>
          <a:lstStyle/>
          <a:p>
            <a:pPr algn="l" indent="0" marL="0">
              <a:lnSpc>
                <a:spcPts val="5600"/>
              </a:lnSpc>
              <a:buNone/>
            </a:pPr>
            <a:r>
              <a:rPr lang="en-US" sz="5600" spc="-112" kern="0" dirty="0">
                <a:solidFill>
                  <a:srgbClr val="F4F4F5"/>
                </a:solidFill>
                <a:latin typeface="Instrument Serif" pitchFamily="34" charset="0"/>
                <a:ea typeface="Instrument Serif" pitchFamily="34" charset="-122"/>
                <a:cs typeface="Instrument Serif" pitchFamily="34" charset="-120"/>
              </a:rPr>
              <a:t>&lt; 1 s</a:t>
            </a:r>
            <a:endParaRPr lang="en-US" sz="5600" dirty="0"/>
          </a:p>
        </p:txBody>
      </p:sp>
      <p:sp>
        <p:nvSpPr>
          <p:cNvPr id="29" name="Text 27"/>
          <p:cNvSpPr txBox="1"/>
          <p:nvPr/>
        </p:nvSpPr>
        <p:spPr>
          <a:xfrm>
            <a:off x="9334500" y="3644900"/>
            <a:ext cx="2263140" cy="500380"/>
          </a:xfrm>
          <a:prstGeom prst="rect">
            <a:avLst/>
          </a:prstGeom>
          <a:noFill/>
          <a:ln/>
        </p:spPr>
        <p:txBody>
          <a:bodyPr wrap="square" lIns="0" tIns="0" rIns="0" bIns="0" rtlCol="0" anchor="t"/>
          <a:lstStyle/>
          <a:p>
            <a:pPr algn="l" indent="0" marL="0">
              <a:lnSpc>
                <a:spcPts val="1700"/>
              </a:lnSpc>
              <a:buNone/>
            </a:pPr>
            <a:r>
              <a:rPr lang="en-US" sz="1200" dirty="0">
                <a:solidFill>
                  <a:srgbClr val="A1A1AA"/>
                </a:solidFill>
                <a:latin typeface="Geist" pitchFamily="34" charset="0"/>
                <a:ea typeface="Geist" pitchFamily="34" charset="-122"/>
                <a:cs typeface="Geist" pitchFamily="34" charset="-120"/>
              </a:rPr>
              <a:t>Voice greeting, from tap to</a:t>
            </a:r>
            <a:br/>
            <a:pPr algn="l" indent="0" marL="0">
              <a:lnSpc>
                <a:spcPts val="1700"/>
              </a:lnSpc>
              <a:buNone/>
            </a:pPr>
            <a:r>
              <a:rPr lang="en-US" sz="1200" dirty="0">
                <a:solidFill>
                  <a:srgbClr val="A1A1AA"/>
                </a:solidFill>
                <a:latin typeface="Geist" pitchFamily="34" charset="0"/>
                <a:ea typeface="Geist" pitchFamily="34" charset="-122"/>
                <a:cs typeface="Geist" pitchFamily="34" charset="-120"/>
              </a:rPr>
              <a:t>hello.</a:t>
            </a:r>
            <a:endParaRPr lang="en-US" sz="1200" dirty="0"/>
          </a:p>
        </p:txBody>
      </p:sp>
      <p:sp>
        <p:nvSpPr>
          <p:cNvPr id="30" name="Text 28"/>
          <p:cNvSpPr txBox="1"/>
          <p:nvPr/>
        </p:nvSpPr>
        <p:spPr>
          <a:xfrm>
            <a:off x="7467600" y="4521200"/>
            <a:ext cx="1930400" cy="807720"/>
          </a:xfrm>
          <a:prstGeom prst="rect">
            <a:avLst/>
          </a:prstGeom>
          <a:noFill/>
          <a:ln/>
        </p:spPr>
        <p:txBody>
          <a:bodyPr wrap="square" lIns="0" tIns="0" rIns="0" bIns="0" rtlCol="0" anchor="t"/>
          <a:lstStyle/>
          <a:p>
            <a:pPr algn="l" indent="0" marL="0">
              <a:lnSpc>
                <a:spcPts val="5600"/>
              </a:lnSpc>
              <a:buNone/>
            </a:pPr>
            <a:r>
              <a:rPr lang="en-US" sz="5600" spc="-112" kern="0" dirty="0">
                <a:solidFill>
                  <a:srgbClr val="F4F4F5"/>
                </a:solidFill>
                <a:latin typeface="Instrument Serif" pitchFamily="34" charset="0"/>
                <a:ea typeface="Instrument Serif" pitchFamily="34" charset="-122"/>
                <a:cs typeface="Instrument Serif" pitchFamily="34" charset="-120"/>
              </a:rPr>
              <a:t>~2 s</a:t>
            </a:r>
            <a:endParaRPr lang="en-US" sz="5600" dirty="0"/>
          </a:p>
        </p:txBody>
      </p:sp>
      <p:sp>
        <p:nvSpPr>
          <p:cNvPr id="31" name="Text 29"/>
          <p:cNvSpPr txBox="1"/>
          <p:nvPr/>
        </p:nvSpPr>
        <p:spPr>
          <a:xfrm>
            <a:off x="9334500" y="4699000"/>
            <a:ext cx="2263140" cy="262890"/>
          </a:xfrm>
          <a:prstGeom prst="rect">
            <a:avLst/>
          </a:prstGeom>
          <a:noFill/>
          <a:ln/>
        </p:spPr>
        <p:txBody>
          <a:bodyPr wrap="square" lIns="0" tIns="0" rIns="0" bIns="0" rtlCol="0" anchor="t"/>
          <a:lstStyle/>
          <a:p>
            <a:pPr algn="l" indent="0" marL="0">
              <a:lnSpc>
                <a:spcPts val="1700"/>
              </a:lnSpc>
              <a:buNone/>
            </a:pPr>
            <a:r>
              <a:rPr lang="en-US" sz="1200" dirty="0">
                <a:solidFill>
                  <a:srgbClr val="A1A1AA"/>
                </a:solidFill>
                <a:latin typeface="Geist" pitchFamily="34" charset="0"/>
                <a:ea typeface="Geist" pitchFamily="34" charset="-122"/>
                <a:cs typeface="Geist" pitchFamily="34" charset="-120"/>
              </a:rPr>
              <a:t>Chat, question to first token.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Slide artwork" descr="Live demo slide artwork">    </p:cNvPr>
          <p:cNvPicPr>
            <a:picLocks noChangeAspect="1"/>
          </p:cNvPicPr>
          <p:nvPr/>
        </p:nvPicPr>
        <p:blipFill>
          <a:blip r:embed="rId1"/>
          <a:stretch>
            <a:fillRect/>
          </a:stretch>
        </p:blipFill>
        <p:spPr>
          <a:xfrm>
            <a:off x="0" y="0"/>
            <a:ext cx="12191695" cy="6858000"/>
          </a:xfrm>
          <a:prstGeom prst="rect">
            <a:avLst/>
          </a:prstGeom>
        </p:spPr>
      </p:pic>
      <p:sp>
        <p:nvSpPr>
          <p:cNvPr id="3" name="Text 1"/>
          <p:cNvSpPr txBox="1"/>
          <p:nvPr/>
        </p:nvSpPr>
        <p:spPr>
          <a:xfrm>
            <a:off x="1066800" y="457200"/>
            <a:ext cx="601464" cy="304800"/>
          </a:xfrm>
          <a:prstGeom prst="rect">
            <a:avLst/>
          </a:prstGeom>
          <a:noFill/>
          <a:ln/>
        </p:spPr>
        <p:txBody>
          <a:bodyPr wrap="square" lIns="0" tIns="0" rIns="0" bIns="0" rtlCol="0" anchor="t"/>
          <a:lstStyle/>
          <a:p>
            <a:pPr algn="l" indent="0" marL="0">
              <a:lnSpc>
                <a:spcPts val="2000"/>
              </a:lnSpc>
              <a:buNone/>
            </a:pPr>
            <a:r>
              <a:rPr lang="en-US" sz="1800" dirty="0">
                <a:solidFill>
                  <a:srgbClr val="F4F4F5"/>
                </a:solidFill>
                <a:latin typeface="Instrument Serif" pitchFamily="34" charset="0"/>
                <a:ea typeface="Instrument Serif" pitchFamily="34" charset="-122"/>
                <a:cs typeface="Instrument Serif" pitchFamily="34" charset="-120"/>
              </a:rPr>
              <a:t>Suryo</a:t>
            </a:r>
            <a:endParaRPr lang="en-US" sz="1800" dirty="0"/>
          </a:p>
        </p:txBody>
      </p:sp>
      <p:sp>
        <p:nvSpPr>
          <p:cNvPr id="4" name="Text 2"/>
          <p:cNvSpPr txBox="1"/>
          <p:nvPr/>
        </p:nvSpPr>
        <p:spPr>
          <a:xfrm>
            <a:off x="10495756" y="520700"/>
            <a:ext cx="934244" cy="193040"/>
          </a:xfrm>
          <a:prstGeom prst="rect">
            <a:avLst/>
          </a:prstGeom>
          <a:noFill/>
          <a:ln/>
        </p:spPr>
        <p:txBody>
          <a:bodyPr wrap="square" lIns="0" tIns="0" rIns="0" bIns="0" rtlCol="0" anchor="t"/>
          <a:lstStyle/>
          <a:p>
            <a:pPr algn="r" indent="0" marL="0">
              <a:lnSpc>
                <a:spcPts val="1200"/>
              </a:lnSpc>
              <a:buNone/>
            </a:pPr>
            <a:r>
              <a:rPr lang="en-US" sz="900" spc="144" kern="0" dirty="0">
                <a:solidFill>
                  <a:srgbClr val="8A8A93"/>
                </a:solidFill>
                <a:latin typeface="Geist Mono" pitchFamily="34" charset="0"/>
                <a:ea typeface="Geist Mono" pitchFamily="34" charset="-122"/>
                <a:cs typeface="Geist Mono" pitchFamily="34" charset="-120"/>
              </a:rPr>
              <a:t>LIVE DEMO</a:t>
            </a:r>
            <a:endParaRPr lang="en-US" sz="900" dirty="0"/>
          </a:p>
        </p:txBody>
      </p:sp>
      <p:sp>
        <p:nvSpPr>
          <p:cNvPr id="5" name="Text 3"/>
          <p:cNvSpPr txBox="1"/>
          <p:nvPr/>
        </p:nvSpPr>
        <p:spPr>
          <a:xfrm>
            <a:off x="5969000" y="1663700"/>
            <a:ext cx="2533067" cy="193040"/>
          </a:xfrm>
          <a:prstGeom prst="rect">
            <a:avLst/>
          </a:prstGeom>
          <a:noFill/>
          <a:ln/>
        </p:spPr>
        <p:txBody>
          <a:bodyPr wrap="square" lIns="0" tIns="0" rIns="0" bIns="0" rtlCol="0" anchor="t"/>
          <a:lstStyle/>
          <a:p>
            <a:pPr algn="l" indent="0" marL="0">
              <a:lnSpc>
                <a:spcPts val="1200"/>
              </a:lnSpc>
              <a:buNone/>
            </a:pPr>
            <a:r>
              <a:rPr lang="en-US" sz="900" spc="144" kern="0" dirty="0">
                <a:solidFill>
                  <a:srgbClr val="FF7A30"/>
                </a:solidFill>
                <a:latin typeface="Geist Mono" pitchFamily="34" charset="0"/>
                <a:ea typeface="Geist Mono" pitchFamily="34" charset="-122"/>
                <a:cs typeface="Geist Mono" pitchFamily="34" charset="-120"/>
              </a:rPr>
              <a:t>SCAN WITH YOUR PHONE CAMERA</a:t>
            </a:r>
            <a:endParaRPr lang="en-US" sz="900" dirty="0"/>
          </a:p>
        </p:txBody>
      </p:sp>
      <p:sp>
        <p:nvSpPr>
          <p:cNvPr id="6" name="Text 4"/>
          <p:cNvSpPr txBox="1"/>
          <p:nvPr/>
        </p:nvSpPr>
        <p:spPr>
          <a:xfrm>
            <a:off x="5943600" y="1943100"/>
            <a:ext cx="6172200" cy="1813560"/>
          </a:xfrm>
          <a:prstGeom prst="rect">
            <a:avLst/>
          </a:prstGeom>
          <a:noFill/>
          <a:ln/>
        </p:spPr>
        <p:txBody>
          <a:bodyPr wrap="square" lIns="0" tIns="0" rIns="0" bIns="0" rtlCol="0" anchor="t"/>
          <a:lstStyle/>
          <a:p>
            <a:pPr algn="l" indent="0" marL="0">
              <a:lnSpc>
                <a:spcPts val="6400"/>
              </a:lnSpc>
              <a:buNone/>
            </a:pPr>
            <a:r>
              <a:rPr lang="en-US" sz="6600" spc="-119" kern="0" dirty="0">
                <a:solidFill>
                  <a:srgbClr val="F4F4F5"/>
                </a:solidFill>
                <a:latin typeface="Instrument Serif" pitchFamily="34" charset="0"/>
                <a:ea typeface="Instrument Serif" pitchFamily="34" charset="-122"/>
                <a:cs typeface="Instrument Serif" pitchFamily="34" charset="-120"/>
              </a:rPr>
              <a:t>Scan and</a:t>
            </a:r>
            <a:br/>
            <a:pPr algn="l" indent="0" marL="0">
              <a:lnSpc>
                <a:spcPts val="6400"/>
              </a:lnSpc>
              <a:buNone/>
            </a:pPr>
            <a:r>
              <a:rPr lang="en-US" sz="6600" spc="-119" kern="0" dirty="0">
                <a:solidFill>
                  <a:srgbClr val="F4F4F5"/>
                </a:solidFill>
                <a:latin typeface="Instrument Serif" pitchFamily="34" charset="0"/>
                <a:ea typeface="Instrument Serif" pitchFamily="34" charset="-122"/>
                <a:cs typeface="Instrument Serif" pitchFamily="34" charset="-120"/>
              </a:rPr>
              <a:t>talk to </a:t>
            </a:r>
            <a:pPr algn="l" indent="0" marL="0">
              <a:lnSpc>
                <a:spcPts val="6400"/>
              </a:lnSpc>
              <a:buNone/>
            </a:pPr>
            <a:r>
              <a:rPr lang="en-US" sz="6600" i="1" spc="-119" kern="0" dirty="0">
                <a:solidFill>
                  <a:srgbClr val="FF7A30"/>
                </a:solidFill>
                <a:latin typeface="Instrument Serif" pitchFamily="34" charset="0"/>
                <a:ea typeface="Instrument Serif" pitchFamily="34" charset="-122"/>
                <a:cs typeface="Instrument Serif" pitchFamily="34" charset="-120"/>
              </a:rPr>
              <a:t>Riya.</a:t>
            </a:r>
            <a:endParaRPr lang="en-US" sz="6600" dirty="0"/>
          </a:p>
        </p:txBody>
      </p:sp>
      <p:sp>
        <p:nvSpPr>
          <p:cNvPr id="7" name="Text 5"/>
          <p:cNvSpPr txBox="1"/>
          <p:nvPr/>
        </p:nvSpPr>
        <p:spPr>
          <a:xfrm>
            <a:off x="5969000" y="3746500"/>
            <a:ext cx="5623560" cy="612140"/>
          </a:xfrm>
          <a:prstGeom prst="rect">
            <a:avLst/>
          </a:prstGeom>
          <a:noFill/>
          <a:ln/>
        </p:spPr>
        <p:txBody>
          <a:bodyPr wrap="square" lIns="0" tIns="0" rIns="0" bIns="0" rtlCol="0" anchor="t"/>
          <a:lstStyle/>
          <a:p>
            <a:pPr algn="l" indent="0" marL="0">
              <a:lnSpc>
                <a:spcPts val="2100"/>
              </a:lnSpc>
              <a:buNone/>
            </a:pPr>
            <a:r>
              <a:rPr lang="en-US" sz="1500" dirty="0">
                <a:solidFill>
                  <a:srgbClr val="A1A1AA"/>
                </a:solidFill>
                <a:latin typeface="Geist" pitchFamily="34" charset="0"/>
                <a:ea typeface="Geist" pitchFamily="34" charset="-122"/>
                <a:cs typeface="Geist" pitchFamily="34" charset="-120"/>
              </a:rPr>
              <a:t>She runs the front desk at Kesar Dental &amp; Skin, our demo</a:t>
            </a:r>
            <a:br/>
            <a:pPr algn="l" indent="0" marL="0">
              <a:lnSpc>
                <a:spcPts val="2100"/>
              </a:lnSpc>
              <a:buNone/>
            </a:pPr>
            <a:r>
              <a:rPr lang="en-US" sz="1500" dirty="0">
                <a:solidFill>
                  <a:srgbClr val="A1A1AA"/>
                </a:solidFill>
                <a:latin typeface="Geist" pitchFamily="34" charset="0"/>
                <a:ea typeface="Geist" pitchFamily="34" charset="-122"/>
                <a:cs typeface="Geist" pitchFamily="34" charset="-120"/>
              </a:rPr>
              <a:t>clinic. Speak English, Hindi or Hinglish.</a:t>
            </a:r>
            <a:endParaRPr lang="en-US" sz="1500" dirty="0"/>
          </a:p>
        </p:txBody>
      </p:sp>
      <p:sp>
        <p:nvSpPr>
          <p:cNvPr id="8" name="Text 6"/>
          <p:cNvSpPr txBox="1"/>
          <p:nvPr/>
        </p:nvSpPr>
        <p:spPr>
          <a:xfrm>
            <a:off x="5969000" y="4533900"/>
            <a:ext cx="1021159" cy="193040"/>
          </a:xfrm>
          <a:prstGeom prst="rect">
            <a:avLst/>
          </a:prstGeom>
          <a:noFill/>
          <a:ln/>
        </p:spPr>
        <p:txBody>
          <a:bodyPr wrap="square" lIns="0" tIns="0" rIns="0" bIns="0" rtlCol="0" anchor="t"/>
          <a:lstStyle/>
          <a:p>
            <a:pPr algn="l" indent="0" marL="0">
              <a:lnSpc>
                <a:spcPts val="1200"/>
              </a:lnSpc>
              <a:buNone/>
            </a:pPr>
            <a:r>
              <a:rPr lang="en-US" sz="900" spc="144" kern="0" dirty="0">
                <a:solidFill>
                  <a:srgbClr val="8A8A93"/>
                </a:solidFill>
                <a:latin typeface="Geist Mono" pitchFamily="34" charset="0"/>
                <a:ea typeface="Geist Mono" pitchFamily="34" charset="-122"/>
                <a:cs typeface="Geist Mono" pitchFamily="34" charset="-120"/>
              </a:rPr>
              <a:t>TRY SAYING</a:t>
            </a:r>
            <a:endParaRPr lang="en-US" sz="900" dirty="0"/>
          </a:p>
        </p:txBody>
      </p:sp>
      <p:sp>
        <p:nvSpPr>
          <p:cNvPr id="9" name="Text 7"/>
          <p:cNvSpPr txBox="1"/>
          <p:nvPr/>
        </p:nvSpPr>
        <p:spPr>
          <a:xfrm>
            <a:off x="5969000" y="4762500"/>
            <a:ext cx="5897880" cy="402590"/>
          </a:xfrm>
          <a:prstGeom prst="rect">
            <a:avLst/>
          </a:prstGeom>
          <a:noFill/>
          <a:ln/>
        </p:spPr>
        <p:txBody>
          <a:bodyPr wrap="square" lIns="0" tIns="0" rIns="0" bIns="0" rtlCol="0" anchor="t"/>
          <a:lstStyle/>
          <a:p>
            <a:pPr algn="l" indent="0" marL="0">
              <a:lnSpc>
                <a:spcPts val="2700"/>
              </a:lnSpc>
              <a:buNone/>
            </a:pPr>
            <a:r>
              <a:rPr lang="en-US" sz="2300" i="1" spc="-23" kern="0" dirty="0">
                <a:solidFill>
                  <a:srgbClr val="F4F4F5"/>
                </a:solidFill>
                <a:latin typeface="Instrument Serif" pitchFamily="34" charset="0"/>
                <a:ea typeface="Instrument Serif" pitchFamily="34" charset="-122"/>
                <a:cs typeface="Instrument Serif" pitchFamily="34" charset="-120"/>
              </a:rPr>
              <a:t>“Kal shaam ko teeth cleaning ka slot hai kya?”</a:t>
            </a:r>
            <a:endParaRPr lang="en-US" sz="2300" dirty="0"/>
          </a:p>
        </p:txBody>
      </p:sp>
      <p:sp>
        <p:nvSpPr>
          <p:cNvPr id="10" name="Text 8"/>
          <p:cNvSpPr txBox="1"/>
          <p:nvPr/>
        </p:nvSpPr>
        <p:spPr>
          <a:xfrm>
            <a:off x="5969000" y="5181600"/>
            <a:ext cx="5897880" cy="262890"/>
          </a:xfrm>
          <a:prstGeom prst="rect">
            <a:avLst/>
          </a:prstGeom>
          <a:noFill/>
          <a:ln/>
        </p:spPr>
        <p:txBody>
          <a:bodyPr wrap="square" lIns="0" tIns="0" rIns="0" bIns="0" rtlCol="0" anchor="t"/>
          <a:lstStyle/>
          <a:p>
            <a:pPr algn="l" indent="0" marL="0">
              <a:lnSpc>
                <a:spcPts val="1700"/>
              </a:lnSpc>
              <a:buNone/>
            </a:pPr>
            <a:r>
              <a:rPr lang="en-US" sz="1200" dirty="0">
                <a:solidFill>
                  <a:srgbClr val="A1A1AA"/>
                </a:solidFill>
                <a:latin typeface="Geist" pitchFamily="34" charset="0"/>
                <a:ea typeface="Geist" pitchFamily="34" charset="-122"/>
                <a:cs typeface="Geist" pitchFamily="34" charset="-120"/>
              </a:rPr>
              <a:t>Then interrupt her mid sentence.</a:t>
            </a:r>
            <a:endParaRPr lang="en-US" sz="1200" dirty="0"/>
          </a:p>
        </p:txBody>
      </p:sp>
      <p:sp>
        <p:nvSpPr>
          <p:cNvPr id="11" name="Text 9"/>
          <p:cNvSpPr txBox="1"/>
          <p:nvPr/>
        </p:nvSpPr>
        <p:spPr>
          <a:xfrm>
            <a:off x="5969000" y="5727700"/>
            <a:ext cx="3928884" cy="276860"/>
          </a:xfrm>
          <a:prstGeom prst="rect">
            <a:avLst/>
          </a:prstGeom>
          <a:noFill/>
          <a:ln/>
        </p:spPr>
        <p:txBody>
          <a:bodyPr wrap="square" lIns="0" tIns="0" rIns="0" bIns="0" rtlCol="0" anchor="t"/>
          <a:lstStyle/>
          <a:p>
            <a:pPr algn="l" indent="0" marL="0">
              <a:lnSpc>
                <a:spcPts val="1800"/>
              </a:lnSpc>
              <a:buNone/>
            </a:pPr>
            <a:r>
              <a:rPr lang="en-US" sz="1400" spc="28" kern="0" dirty="0">
                <a:solidFill>
                  <a:srgbClr val="FFB07A"/>
                </a:solidFill>
                <a:latin typeface="Geist Mono" pitchFamily="34" charset="0"/>
                <a:ea typeface="Geist Mono" pitchFamily="34" charset="-122"/>
                <a:cs typeface="Geist Mono" pitchFamily="34" charset="-120"/>
              </a:rPr>
              <a:t>suryo-eight.vercel.app/call/kesar</a:t>
            </a:r>
            <a:endParaRPr lang="en-US" sz="1400" dirty="0"/>
          </a:p>
        </p:txBody>
      </p:sp>
      <p:sp>
        <p:nvSpPr>
          <p:cNvPr id="12" name="Text 10"/>
          <p:cNvSpPr txBox="1"/>
          <p:nvPr/>
        </p:nvSpPr>
        <p:spPr>
          <a:xfrm>
            <a:off x="10701437" y="6299200"/>
            <a:ext cx="728563" cy="193040"/>
          </a:xfrm>
          <a:prstGeom prst="rect">
            <a:avLst/>
          </a:prstGeom>
          <a:noFill/>
          <a:ln/>
        </p:spPr>
        <p:txBody>
          <a:bodyPr wrap="square" lIns="0" tIns="0" rIns="0" bIns="0" rtlCol="0" anchor="t"/>
          <a:lstStyle/>
          <a:p>
            <a:pPr algn="r" indent="0" marL="0">
              <a:lnSpc>
                <a:spcPts val="1200"/>
              </a:lnSpc>
              <a:buNone/>
            </a:pPr>
            <a:r>
              <a:rPr lang="en-US" sz="900" spc="108" kern="0" dirty="0">
                <a:solidFill>
                  <a:srgbClr val="52525B"/>
                </a:solidFill>
                <a:latin typeface="Geist Mono" pitchFamily="34" charset="0"/>
                <a:ea typeface="Geist Mono" pitchFamily="34" charset="-122"/>
                <a:cs typeface="Geist Mono" pitchFamily="34" charset="-120"/>
              </a:rPr>
              <a:t>09 / 11</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Slide artwork" descr="What is next slide artwork">    </p:cNvPr>
          <p:cNvPicPr>
            <a:picLocks noChangeAspect="1"/>
          </p:cNvPicPr>
          <p:nvPr/>
        </p:nvPicPr>
        <p:blipFill>
          <a:blip r:embed="rId1"/>
          <a:stretch>
            <a:fillRect/>
          </a:stretch>
        </p:blipFill>
        <p:spPr>
          <a:xfrm>
            <a:off x="0" y="0"/>
            <a:ext cx="12191695" cy="6858000"/>
          </a:xfrm>
          <a:prstGeom prst="rect">
            <a:avLst/>
          </a:prstGeom>
        </p:spPr>
      </p:pic>
      <p:sp>
        <p:nvSpPr>
          <p:cNvPr id="3" name="Text 1"/>
          <p:cNvSpPr txBox="1"/>
          <p:nvPr/>
        </p:nvSpPr>
        <p:spPr>
          <a:xfrm>
            <a:off x="1066800" y="457200"/>
            <a:ext cx="601464" cy="304800"/>
          </a:xfrm>
          <a:prstGeom prst="rect">
            <a:avLst/>
          </a:prstGeom>
          <a:noFill/>
          <a:ln/>
        </p:spPr>
        <p:txBody>
          <a:bodyPr wrap="square" lIns="0" tIns="0" rIns="0" bIns="0" rtlCol="0" anchor="t"/>
          <a:lstStyle/>
          <a:p>
            <a:pPr algn="l" indent="0" marL="0">
              <a:lnSpc>
                <a:spcPts val="2000"/>
              </a:lnSpc>
              <a:buNone/>
            </a:pPr>
            <a:r>
              <a:rPr lang="en-US" sz="1800" dirty="0">
                <a:solidFill>
                  <a:srgbClr val="F4F4F5"/>
                </a:solidFill>
                <a:latin typeface="Instrument Serif" pitchFamily="34" charset="0"/>
                <a:ea typeface="Instrument Serif" pitchFamily="34" charset="-122"/>
                <a:cs typeface="Instrument Serif" pitchFamily="34" charset="-120"/>
              </a:rPr>
              <a:t>Suryo</a:t>
            </a:r>
            <a:endParaRPr lang="en-US" sz="1800" dirty="0"/>
          </a:p>
        </p:txBody>
      </p:sp>
      <p:sp>
        <p:nvSpPr>
          <p:cNvPr id="4" name="Text 2"/>
          <p:cNvSpPr txBox="1"/>
          <p:nvPr/>
        </p:nvSpPr>
        <p:spPr>
          <a:xfrm>
            <a:off x="9800828" y="520700"/>
            <a:ext cx="1629172" cy="193040"/>
          </a:xfrm>
          <a:prstGeom prst="rect">
            <a:avLst/>
          </a:prstGeom>
          <a:noFill/>
          <a:ln/>
        </p:spPr>
        <p:txBody>
          <a:bodyPr wrap="square" lIns="0" tIns="0" rIns="0" bIns="0" rtlCol="0" anchor="t"/>
          <a:lstStyle/>
          <a:p>
            <a:pPr algn="r" indent="0" marL="0">
              <a:lnSpc>
                <a:spcPts val="1200"/>
              </a:lnSpc>
              <a:buNone/>
            </a:pPr>
            <a:r>
              <a:rPr lang="en-US" sz="900" spc="144" kern="0" dirty="0">
                <a:solidFill>
                  <a:srgbClr val="8A8A93"/>
                </a:solidFill>
                <a:latin typeface="Geist Mono" pitchFamily="34" charset="0"/>
                <a:ea typeface="Geist Mono" pitchFamily="34" charset="-122"/>
                <a:cs typeface="Geist Mono" pitchFamily="34" charset="-120"/>
              </a:rPr>
              <a:t>08 · WHAT IS NEXT</a:t>
            </a:r>
            <a:endParaRPr lang="en-US" sz="900" dirty="0"/>
          </a:p>
        </p:txBody>
      </p:sp>
      <p:sp>
        <p:nvSpPr>
          <p:cNvPr id="5" name="Text 3"/>
          <p:cNvSpPr txBox="1"/>
          <p:nvPr/>
        </p:nvSpPr>
        <p:spPr>
          <a:xfrm>
            <a:off x="762000" y="1244600"/>
            <a:ext cx="10287000" cy="1310640"/>
          </a:xfrm>
          <a:prstGeom prst="rect">
            <a:avLst/>
          </a:prstGeom>
          <a:noFill/>
          <a:ln/>
        </p:spPr>
        <p:txBody>
          <a:bodyPr wrap="square" lIns="0" tIns="0" rIns="0" bIns="0" rtlCol="0" anchor="t"/>
          <a:lstStyle/>
          <a:p>
            <a:pPr algn="l" indent="0" marL="0">
              <a:lnSpc>
                <a:spcPts val="4600"/>
              </a:lnSpc>
              <a:buNone/>
            </a:pPr>
            <a:r>
              <a:rPr lang="en-US" sz="4400" spc="-53" kern="0" dirty="0">
                <a:solidFill>
                  <a:srgbClr val="F4F4F5"/>
                </a:solidFill>
                <a:latin typeface="Instrument Serif" pitchFamily="34" charset="0"/>
                <a:ea typeface="Instrument Serif" pitchFamily="34" charset="-122"/>
                <a:cs typeface="Instrument Serif" pitchFamily="34" charset="-120"/>
              </a:rPr>
              <a:t>Next: every place your</a:t>
            </a:r>
            <a:br/>
            <a:pPr algn="l" indent="0" marL="0">
              <a:lnSpc>
                <a:spcPts val="4600"/>
              </a:lnSpc>
              <a:buNone/>
            </a:pPr>
            <a:r>
              <a:rPr lang="en-US" sz="4400" spc="-53" kern="0" dirty="0">
                <a:solidFill>
                  <a:srgbClr val="F4F4F5"/>
                </a:solidFill>
                <a:latin typeface="Instrument Serif" pitchFamily="34" charset="0"/>
                <a:ea typeface="Instrument Serif" pitchFamily="34" charset="-122"/>
                <a:cs typeface="Instrument Serif" pitchFamily="34" charset="-120"/>
              </a:rPr>
              <a:t>customers </a:t>
            </a:r>
            <a:pPr algn="l" indent="0" marL="0">
              <a:lnSpc>
                <a:spcPts val="4600"/>
              </a:lnSpc>
              <a:buNone/>
            </a:pPr>
            <a:r>
              <a:rPr lang="en-US" sz="4400" i="1" spc="-53" kern="0" dirty="0">
                <a:solidFill>
                  <a:srgbClr val="FF7A30"/>
                </a:solidFill>
                <a:latin typeface="Instrument Serif" pitchFamily="34" charset="0"/>
                <a:ea typeface="Instrument Serif" pitchFamily="34" charset="-122"/>
                <a:cs typeface="Instrument Serif" pitchFamily="34" charset="-120"/>
              </a:rPr>
              <a:t>already are.</a:t>
            </a:r>
            <a:endParaRPr lang="en-US" sz="4400" dirty="0"/>
          </a:p>
        </p:txBody>
      </p:sp>
      <p:sp>
        <p:nvSpPr>
          <p:cNvPr id="6" name="Text 4"/>
          <p:cNvSpPr txBox="1"/>
          <p:nvPr/>
        </p:nvSpPr>
        <p:spPr>
          <a:xfrm>
            <a:off x="762000" y="4851400"/>
            <a:ext cx="1368623" cy="193040"/>
          </a:xfrm>
          <a:prstGeom prst="rect">
            <a:avLst/>
          </a:prstGeom>
          <a:noFill/>
          <a:ln/>
        </p:spPr>
        <p:txBody>
          <a:bodyPr wrap="square" lIns="0" tIns="0" rIns="0" bIns="0" rtlCol="0" anchor="t"/>
          <a:lstStyle/>
          <a:p>
            <a:pPr algn="l" indent="0" marL="0">
              <a:lnSpc>
                <a:spcPts val="1200"/>
              </a:lnSpc>
              <a:buNone/>
            </a:pPr>
            <a:r>
              <a:rPr lang="en-US" sz="900" spc="144" kern="0" dirty="0">
                <a:solidFill>
                  <a:srgbClr val="8A8A93"/>
                </a:solidFill>
                <a:latin typeface="Geist Mono" pitchFamily="34" charset="0"/>
                <a:ea typeface="Geist Mono" pitchFamily="34" charset="-122"/>
                <a:cs typeface="Geist Mono" pitchFamily="34" charset="-120"/>
              </a:rPr>
              <a:t>BUSINESS MODEL</a:t>
            </a:r>
            <a:endParaRPr lang="en-US" sz="900" dirty="0"/>
          </a:p>
        </p:txBody>
      </p:sp>
      <p:sp>
        <p:nvSpPr>
          <p:cNvPr id="7" name="Text 5"/>
          <p:cNvSpPr txBox="1"/>
          <p:nvPr/>
        </p:nvSpPr>
        <p:spPr>
          <a:xfrm>
            <a:off x="990600" y="5283200"/>
            <a:ext cx="760512" cy="193040"/>
          </a:xfrm>
          <a:prstGeom prst="rect">
            <a:avLst/>
          </a:prstGeom>
          <a:noFill/>
          <a:ln/>
        </p:spPr>
        <p:txBody>
          <a:bodyPr wrap="square" lIns="0" tIns="0" rIns="0" bIns="0" rtlCol="0" anchor="t"/>
          <a:lstStyle/>
          <a:p>
            <a:pPr algn="l" indent="0" marL="0">
              <a:lnSpc>
                <a:spcPts val="1200"/>
              </a:lnSpc>
              <a:buNone/>
            </a:pPr>
            <a:r>
              <a:rPr lang="en-US" sz="900" spc="144" kern="0" dirty="0">
                <a:solidFill>
                  <a:srgbClr val="8A8A93"/>
                </a:solidFill>
                <a:latin typeface="Geist Mono" pitchFamily="34" charset="0"/>
                <a:ea typeface="Geist Mono" pitchFamily="34" charset="-122"/>
                <a:cs typeface="Geist Mono" pitchFamily="34" charset="-120"/>
              </a:rPr>
              <a:t>PRICING</a:t>
            </a:r>
            <a:endParaRPr lang="en-US" sz="900" dirty="0"/>
          </a:p>
        </p:txBody>
      </p:sp>
      <p:sp>
        <p:nvSpPr>
          <p:cNvPr id="8" name="Text 6"/>
          <p:cNvSpPr txBox="1"/>
          <p:nvPr/>
        </p:nvSpPr>
        <p:spPr>
          <a:xfrm>
            <a:off x="990600" y="5499100"/>
            <a:ext cx="4386441" cy="262890"/>
          </a:xfrm>
          <a:prstGeom prst="rect">
            <a:avLst/>
          </a:prstGeom>
          <a:noFill/>
          <a:ln/>
        </p:spPr>
        <p:txBody>
          <a:bodyPr wrap="square" lIns="0" tIns="0" rIns="0" bIns="0" rtlCol="0" anchor="t"/>
          <a:lstStyle/>
          <a:p>
            <a:pPr algn="l" indent="0" marL="0">
              <a:lnSpc>
                <a:spcPts val="1700"/>
              </a:lnSpc>
              <a:buNone/>
            </a:pPr>
            <a:r>
              <a:rPr lang="en-US" sz="1300" dirty="0">
                <a:solidFill>
                  <a:srgbClr val="FFB07A"/>
                </a:solidFill>
                <a:latin typeface="Geist Mono" pitchFamily="34" charset="0"/>
                <a:ea typeface="Geist Mono" pitchFamily="34" charset="-122"/>
                <a:cs typeface="Geist Mono" pitchFamily="34" charset="-120"/>
              </a:rPr>
              <a:t>[Pricing: per resolved conversation, TBD]</a:t>
            </a:r>
            <a:endParaRPr lang="en-US" sz="1300" dirty="0"/>
          </a:p>
        </p:txBody>
      </p:sp>
      <p:sp>
        <p:nvSpPr>
          <p:cNvPr id="9" name="Text 7"/>
          <p:cNvSpPr txBox="1"/>
          <p:nvPr/>
        </p:nvSpPr>
        <p:spPr>
          <a:xfrm>
            <a:off x="6451600" y="5283200"/>
            <a:ext cx="1368623" cy="193040"/>
          </a:xfrm>
          <a:prstGeom prst="rect">
            <a:avLst/>
          </a:prstGeom>
          <a:noFill/>
          <a:ln/>
        </p:spPr>
        <p:txBody>
          <a:bodyPr wrap="square" lIns="0" tIns="0" rIns="0" bIns="0" rtlCol="0" anchor="t"/>
          <a:lstStyle/>
          <a:p>
            <a:pPr algn="l" indent="0" marL="0">
              <a:lnSpc>
                <a:spcPts val="1200"/>
              </a:lnSpc>
              <a:buNone/>
            </a:pPr>
            <a:r>
              <a:rPr lang="en-US" sz="900" spc="144" kern="0" dirty="0">
                <a:solidFill>
                  <a:srgbClr val="8A8A93"/>
                </a:solidFill>
                <a:latin typeface="Geist Mono" pitchFamily="34" charset="0"/>
                <a:ea typeface="Geist Mono" pitchFamily="34" charset="-122"/>
                <a:cs typeface="Geist Mono" pitchFamily="34" charset="-120"/>
              </a:rPr>
              <a:t>UNIT ECONOMICS</a:t>
            </a:r>
            <a:endParaRPr lang="en-US" sz="900" dirty="0"/>
          </a:p>
        </p:txBody>
      </p:sp>
      <p:sp>
        <p:nvSpPr>
          <p:cNvPr id="10" name="Text 8"/>
          <p:cNvSpPr txBox="1"/>
          <p:nvPr/>
        </p:nvSpPr>
        <p:spPr>
          <a:xfrm>
            <a:off x="6451600" y="5499100"/>
            <a:ext cx="4172450" cy="262890"/>
          </a:xfrm>
          <a:prstGeom prst="rect">
            <a:avLst/>
          </a:prstGeom>
          <a:noFill/>
          <a:ln/>
        </p:spPr>
        <p:txBody>
          <a:bodyPr wrap="square" lIns="0" tIns="0" rIns="0" bIns="0" rtlCol="0" anchor="t"/>
          <a:lstStyle/>
          <a:p>
            <a:pPr algn="l" indent="0" marL="0">
              <a:lnSpc>
                <a:spcPts val="1700"/>
              </a:lnSpc>
              <a:buNone/>
            </a:pPr>
            <a:r>
              <a:rPr lang="en-US" sz="1300" dirty="0">
                <a:solidFill>
                  <a:srgbClr val="FFB07A"/>
                </a:solidFill>
                <a:latin typeface="Geist Mono" pitchFamily="34" charset="0"/>
                <a:ea typeface="Geist Mono" pitchFamily="34" charset="-122"/>
                <a:cs typeface="Geist Mono" pitchFamily="34" charset="-120"/>
              </a:rPr>
              <a:t>[Cost per conversation: to be measured]</a:t>
            </a:r>
            <a:endParaRPr lang="en-US" sz="1300" dirty="0"/>
          </a:p>
        </p:txBody>
      </p:sp>
      <p:sp>
        <p:nvSpPr>
          <p:cNvPr id="11" name="Text 9"/>
          <p:cNvSpPr txBox="1"/>
          <p:nvPr/>
        </p:nvSpPr>
        <p:spPr>
          <a:xfrm>
            <a:off x="10701437" y="6299200"/>
            <a:ext cx="728563" cy="193040"/>
          </a:xfrm>
          <a:prstGeom prst="rect">
            <a:avLst/>
          </a:prstGeom>
          <a:noFill/>
          <a:ln/>
        </p:spPr>
        <p:txBody>
          <a:bodyPr wrap="square" lIns="0" tIns="0" rIns="0" bIns="0" rtlCol="0" anchor="t"/>
          <a:lstStyle/>
          <a:p>
            <a:pPr algn="r" indent="0" marL="0">
              <a:lnSpc>
                <a:spcPts val="1200"/>
              </a:lnSpc>
              <a:buNone/>
            </a:pPr>
            <a:r>
              <a:rPr lang="en-US" sz="900" spc="108" kern="0" dirty="0">
                <a:solidFill>
                  <a:srgbClr val="52525B"/>
                </a:solidFill>
                <a:latin typeface="Geist Mono" pitchFamily="34" charset="0"/>
                <a:ea typeface="Geist Mono" pitchFamily="34" charset="-122"/>
                <a:cs typeface="Geist Mono" pitchFamily="34" charset="-120"/>
              </a:rPr>
              <a:t>10 / 11</a:t>
            </a:r>
            <a:endParaRPr lang="en-US" sz="900" dirty="0"/>
          </a:p>
        </p:txBody>
      </p:sp>
      <p:sp>
        <p:nvSpPr>
          <p:cNvPr id="12" name="Text 10"/>
          <p:cNvSpPr txBox="1"/>
          <p:nvPr/>
        </p:nvSpPr>
        <p:spPr>
          <a:xfrm>
            <a:off x="990600" y="2794000"/>
            <a:ext cx="326231" cy="193040"/>
          </a:xfrm>
          <a:prstGeom prst="rect">
            <a:avLst/>
          </a:prstGeom>
          <a:noFill/>
          <a:ln/>
        </p:spPr>
        <p:txBody>
          <a:bodyPr wrap="square" lIns="0" tIns="0" rIns="0" bIns="0" rtlCol="0" anchor="t"/>
          <a:lstStyle/>
          <a:p>
            <a:pPr algn="l" indent="0" marL="0">
              <a:lnSpc>
                <a:spcPts val="1200"/>
              </a:lnSpc>
              <a:buNone/>
            </a:pPr>
            <a:r>
              <a:rPr lang="en-US" sz="900" spc="144" kern="0" dirty="0">
                <a:solidFill>
                  <a:srgbClr val="8A8A93"/>
                </a:solidFill>
                <a:latin typeface="Geist Mono" pitchFamily="34" charset="0"/>
                <a:ea typeface="Geist Mono" pitchFamily="34" charset="-122"/>
                <a:cs typeface="Geist Mono" pitchFamily="34" charset="-120"/>
              </a:rPr>
              <a:t>01</a:t>
            </a:r>
            <a:endParaRPr lang="en-US" sz="900" dirty="0"/>
          </a:p>
        </p:txBody>
      </p:sp>
      <p:sp>
        <p:nvSpPr>
          <p:cNvPr id="13" name="Text 11"/>
          <p:cNvSpPr txBox="1"/>
          <p:nvPr/>
        </p:nvSpPr>
        <p:spPr>
          <a:xfrm>
            <a:off x="762000" y="3124200"/>
            <a:ext cx="2551176" cy="695960"/>
          </a:xfrm>
          <a:prstGeom prst="rect">
            <a:avLst/>
          </a:prstGeom>
          <a:noFill/>
          <a:ln/>
        </p:spPr>
        <p:txBody>
          <a:bodyPr wrap="square" lIns="0" tIns="0" rIns="0" bIns="0" rtlCol="0" anchor="t"/>
          <a:lstStyle/>
          <a:p>
            <a:pPr algn="l" indent="0" marL="0">
              <a:lnSpc>
                <a:spcPts val="2400"/>
              </a:lnSpc>
              <a:buNone/>
            </a:pPr>
            <a:r>
              <a:rPr lang="en-US" sz="2200" spc="-22" kern="0" dirty="0">
                <a:solidFill>
                  <a:srgbClr val="F4F4F5"/>
                </a:solidFill>
                <a:latin typeface="Instrument Serif" pitchFamily="34" charset="0"/>
                <a:ea typeface="Instrument Serif" pitchFamily="34" charset="-122"/>
                <a:cs typeface="Instrument Serif" pitchFamily="34" charset="-120"/>
              </a:rPr>
              <a:t>Phone numbers and</a:t>
            </a:r>
            <a:br/>
            <a:pPr algn="l" indent="0" marL="0">
              <a:lnSpc>
                <a:spcPts val="2400"/>
              </a:lnSpc>
              <a:buNone/>
            </a:pPr>
            <a:r>
              <a:rPr lang="en-US" sz="2200" spc="-22" kern="0" dirty="0">
                <a:solidFill>
                  <a:srgbClr val="F4F4F5"/>
                </a:solidFill>
                <a:latin typeface="Instrument Serif" pitchFamily="34" charset="0"/>
                <a:ea typeface="Instrument Serif" pitchFamily="34" charset="-122"/>
                <a:cs typeface="Instrument Serif" pitchFamily="34" charset="-120"/>
              </a:rPr>
              <a:t>WhatsApp</a:t>
            </a:r>
            <a:endParaRPr lang="en-US" sz="2200" dirty="0"/>
          </a:p>
        </p:txBody>
      </p:sp>
      <p:sp>
        <p:nvSpPr>
          <p:cNvPr id="14" name="Text 12"/>
          <p:cNvSpPr txBox="1"/>
          <p:nvPr/>
        </p:nvSpPr>
        <p:spPr>
          <a:xfrm>
            <a:off x="762000" y="3810000"/>
            <a:ext cx="2482596" cy="737870"/>
          </a:xfrm>
          <a:prstGeom prst="rect">
            <a:avLst/>
          </a:prstGeom>
          <a:noFill/>
          <a:ln/>
        </p:spPr>
        <p:txBody>
          <a:bodyPr wrap="square" lIns="0" tIns="0" rIns="0" bIns="0" rtlCol="0" anchor="t"/>
          <a:lstStyle/>
          <a:p>
            <a:pPr algn="l" indent="0" marL="0">
              <a:lnSpc>
                <a:spcPts val="1700"/>
              </a:lnSpc>
              <a:buNone/>
            </a:pPr>
            <a:r>
              <a:rPr lang="en-US" sz="1200" dirty="0">
                <a:solidFill>
                  <a:srgbClr val="A1A1AA"/>
                </a:solidFill>
                <a:latin typeface="Geist" pitchFamily="34" charset="0"/>
                <a:ea typeface="Geist" pitchFamily="34" charset="-122"/>
                <a:cs typeface="Geist" pitchFamily="34" charset="-120"/>
              </a:rPr>
              <a:t>The same brain on a real number,</a:t>
            </a:r>
            <a:br/>
            <a:pPr algn="l" indent="0" marL="0">
              <a:lnSpc>
                <a:spcPts val="1700"/>
              </a:lnSpc>
              <a:buNone/>
            </a:pPr>
            <a:r>
              <a:rPr lang="en-US" sz="1200" dirty="0">
                <a:solidFill>
                  <a:srgbClr val="A1A1AA"/>
                </a:solidFill>
                <a:latin typeface="Geist" pitchFamily="34" charset="0"/>
                <a:ea typeface="Geist" pitchFamily="34" charset="-122"/>
                <a:cs typeface="Geist" pitchFamily="34" charset="-120"/>
              </a:rPr>
              <a:t>via Twilio or Exotel and the</a:t>
            </a:r>
            <a:br/>
            <a:pPr algn="l" indent="0" marL="0">
              <a:lnSpc>
                <a:spcPts val="1700"/>
              </a:lnSpc>
              <a:buNone/>
            </a:pPr>
            <a:r>
              <a:rPr lang="en-US" sz="1200" dirty="0">
                <a:solidFill>
                  <a:srgbClr val="A1A1AA"/>
                </a:solidFill>
                <a:latin typeface="Geist" pitchFamily="34" charset="0"/>
                <a:ea typeface="Geist" pitchFamily="34" charset="-122"/>
                <a:cs typeface="Geist" pitchFamily="34" charset="-120"/>
              </a:rPr>
              <a:t>WhatsApp Cloud API.</a:t>
            </a:r>
            <a:endParaRPr lang="en-US" sz="1200" dirty="0"/>
          </a:p>
        </p:txBody>
      </p:sp>
      <p:sp>
        <p:nvSpPr>
          <p:cNvPr id="15" name="Text 13"/>
          <p:cNvSpPr txBox="1"/>
          <p:nvPr/>
        </p:nvSpPr>
        <p:spPr>
          <a:xfrm>
            <a:off x="3714750" y="2794000"/>
            <a:ext cx="326231" cy="193040"/>
          </a:xfrm>
          <a:prstGeom prst="rect">
            <a:avLst/>
          </a:prstGeom>
          <a:noFill/>
          <a:ln/>
        </p:spPr>
        <p:txBody>
          <a:bodyPr wrap="square" lIns="0" tIns="0" rIns="0" bIns="0" rtlCol="0" anchor="t"/>
          <a:lstStyle/>
          <a:p>
            <a:pPr algn="l" indent="0" marL="0">
              <a:lnSpc>
                <a:spcPts val="1200"/>
              </a:lnSpc>
              <a:buNone/>
            </a:pPr>
            <a:r>
              <a:rPr lang="en-US" sz="900" spc="144" kern="0" dirty="0">
                <a:solidFill>
                  <a:srgbClr val="8A8A93"/>
                </a:solidFill>
                <a:latin typeface="Geist Mono" pitchFamily="34" charset="0"/>
                <a:ea typeface="Geist Mono" pitchFamily="34" charset="-122"/>
                <a:cs typeface="Geist Mono" pitchFamily="34" charset="-120"/>
              </a:rPr>
              <a:t>02</a:t>
            </a:r>
            <a:endParaRPr lang="en-US" sz="900" dirty="0"/>
          </a:p>
        </p:txBody>
      </p:sp>
      <p:sp>
        <p:nvSpPr>
          <p:cNvPr id="16" name="Text 14"/>
          <p:cNvSpPr txBox="1"/>
          <p:nvPr/>
        </p:nvSpPr>
        <p:spPr>
          <a:xfrm>
            <a:off x="3486150" y="3124200"/>
            <a:ext cx="2551176" cy="695960"/>
          </a:xfrm>
          <a:prstGeom prst="rect">
            <a:avLst/>
          </a:prstGeom>
          <a:noFill/>
          <a:ln/>
        </p:spPr>
        <p:txBody>
          <a:bodyPr wrap="square" lIns="0" tIns="0" rIns="0" bIns="0" rtlCol="0" anchor="t"/>
          <a:lstStyle/>
          <a:p>
            <a:pPr algn="l" indent="0" marL="0">
              <a:lnSpc>
                <a:spcPts val="2400"/>
              </a:lnSpc>
              <a:buNone/>
            </a:pPr>
            <a:r>
              <a:rPr lang="en-US" sz="2200" spc="-22" kern="0" dirty="0">
                <a:solidFill>
                  <a:srgbClr val="F4F4F5"/>
                </a:solidFill>
                <a:latin typeface="Instrument Serif" pitchFamily="34" charset="0"/>
                <a:ea typeface="Instrument Serif" pitchFamily="34" charset="-122"/>
                <a:cs typeface="Instrument Serif" pitchFamily="34" charset="-120"/>
              </a:rPr>
              <a:t>GoHighLevel and</a:t>
            </a:r>
            <a:br/>
            <a:pPr algn="l" indent="0" marL="0">
              <a:lnSpc>
                <a:spcPts val="2400"/>
              </a:lnSpc>
              <a:buNone/>
            </a:pPr>
            <a:r>
              <a:rPr lang="en-US" sz="2200" spc="-22" kern="0" dirty="0">
                <a:solidFill>
                  <a:srgbClr val="F4F4F5"/>
                </a:solidFill>
                <a:latin typeface="Instrument Serif" pitchFamily="34" charset="0"/>
                <a:ea typeface="Instrument Serif" pitchFamily="34" charset="-122"/>
                <a:cs typeface="Instrument Serif" pitchFamily="34" charset="-120"/>
              </a:rPr>
              <a:t>HubSpot</a:t>
            </a:r>
            <a:endParaRPr lang="en-US" sz="2200" dirty="0"/>
          </a:p>
        </p:txBody>
      </p:sp>
      <p:sp>
        <p:nvSpPr>
          <p:cNvPr id="17" name="Text 15"/>
          <p:cNvSpPr txBox="1"/>
          <p:nvPr/>
        </p:nvSpPr>
        <p:spPr>
          <a:xfrm>
            <a:off x="3486150" y="3810000"/>
            <a:ext cx="2482596" cy="500380"/>
          </a:xfrm>
          <a:prstGeom prst="rect">
            <a:avLst/>
          </a:prstGeom>
          <a:noFill/>
          <a:ln/>
        </p:spPr>
        <p:txBody>
          <a:bodyPr wrap="square" lIns="0" tIns="0" rIns="0" bIns="0" rtlCol="0" anchor="t"/>
          <a:lstStyle/>
          <a:p>
            <a:pPr algn="l" indent="0" marL="0">
              <a:lnSpc>
                <a:spcPts val="1700"/>
              </a:lnSpc>
              <a:buNone/>
            </a:pPr>
            <a:r>
              <a:rPr lang="en-US" sz="1200" dirty="0">
                <a:solidFill>
                  <a:srgbClr val="A1A1AA"/>
                </a:solidFill>
                <a:latin typeface="Geist" pitchFamily="34" charset="0"/>
                <a:ea typeface="Geist" pitchFamily="34" charset="-122"/>
                <a:cs typeface="Geist" pitchFamily="34" charset="-120"/>
              </a:rPr>
              <a:t>CRM adapters behind the tool</a:t>
            </a:r>
            <a:br/>
            <a:pPr algn="l" indent="0" marL="0">
              <a:lnSpc>
                <a:spcPts val="1700"/>
              </a:lnSpc>
              <a:buNone/>
            </a:pPr>
            <a:r>
              <a:rPr lang="en-US" sz="1200" dirty="0">
                <a:solidFill>
                  <a:srgbClr val="A1A1AA"/>
                </a:solidFill>
                <a:latin typeface="Geist" pitchFamily="34" charset="0"/>
                <a:ea typeface="Geist" pitchFamily="34" charset="-122"/>
                <a:cs typeface="Geist" pitchFamily="34" charset="-120"/>
              </a:rPr>
              <a:t>layer the agent already calls.</a:t>
            </a:r>
            <a:endParaRPr lang="en-US" sz="1200" dirty="0"/>
          </a:p>
        </p:txBody>
      </p:sp>
      <p:sp>
        <p:nvSpPr>
          <p:cNvPr id="18" name="Text 16"/>
          <p:cNvSpPr txBox="1"/>
          <p:nvPr/>
        </p:nvSpPr>
        <p:spPr>
          <a:xfrm>
            <a:off x="6438900" y="2794000"/>
            <a:ext cx="326231" cy="193040"/>
          </a:xfrm>
          <a:prstGeom prst="rect">
            <a:avLst/>
          </a:prstGeom>
          <a:noFill/>
          <a:ln/>
        </p:spPr>
        <p:txBody>
          <a:bodyPr wrap="square" lIns="0" tIns="0" rIns="0" bIns="0" rtlCol="0" anchor="t"/>
          <a:lstStyle/>
          <a:p>
            <a:pPr algn="l" indent="0" marL="0">
              <a:lnSpc>
                <a:spcPts val="1200"/>
              </a:lnSpc>
              <a:buNone/>
            </a:pPr>
            <a:r>
              <a:rPr lang="en-US" sz="900" spc="144" kern="0" dirty="0">
                <a:solidFill>
                  <a:srgbClr val="8A8A93"/>
                </a:solidFill>
                <a:latin typeface="Geist Mono" pitchFamily="34" charset="0"/>
                <a:ea typeface="Geist Mono" pitchFamily="34" charset="-122"/>
                <a:cs typeface="Geist Mono" pitchFamily="34" charset="-120"/>
              </a:rPr>
              <a:t>03</a:t>
            </a:r>
            <a:endParaRPr lang="en-US" sz="900" dirty="0"/>
          </a:p>
        </p:txBody>
      </p:sp>
      <p:sp>
        <p:nvSpPr>
          <p:cNvPr id="19" name="Text 17"/>
          <p:cNvSpPr txBox="1"/>
          <p:nvPr/>
        </p:nvSpPr>
        <p:spPr>
          <a:xfrm>
            <a:off x="6210300" y="3124200"/>
            <a:ext cx="2551176" cy="360680"/>
          </a:xfrm>
          <a:prstGeom prst="rect">
            <a:avLst/>
          </a:prstGeom>
          <a:noFill/>
          <a:ln/>
        </p:spPr>
        <p:txBody>
          <a:bodyPr wrap="square" lIns="0" tIns="0" rIns="0" bIns="0" rtlCol="0" anchor="t"/>
          <a:lstStyle/>
          <a:p>
            <a:pPr algn="l" indent="0" marL="0">
              <a:lnSpc>
                <a:spcPts val="2400"/>
              </a:lnSpc>
              <a:buNone/>
            </a:pPr>
            <a:r>
              <a:rPr lang="en-US" sz="2200" spc="-22" kern="0" dirty="0">
                <a:solidFill>
                  <a:srgbClr val="F4F4F5"/>
                </a:solidFill>
                <a:latin typeface="Instrument Serif" pitchFamily="34" charset="0"/>
                <a:ea typeface="Instrument Serif" pitchFamily="34" charset="-122"/>
                <a:cs typeface="Instrument Serif" pitchFamily="34" charset="-120"/>
              </a:rPr>
              <a:t>Outbound follow up calls</a:t>
            </a:r>
            <a:endParaRPr lang="en-US" sz="2200" dirty="0"/>
          </a:p>
        </p:txBody>
      </p:sp>
      <p:sp>
        <p:nvSpPr>
          <p:cNvPr id="20" name="Text 18"/>
          <p:cNvSpPr txBox="1"/>
          <p:nvPr/>
        </p:nvSpPr>
        <p:spPr>
          <a:xfrm>
            <a:off x="6210300" y="3810000"/>
            <a:ext cx="2482596" cy="737870"/>
          </a:xfrm>
          <a:prstGeom prst="rect">
            <a:avLst/>
          </a:prstGeom>
          <a:noFill/>
          <a:ln/>
        </p:spPr>
        <p:txBody>
          <a:bodyPr wrap="square" lIns="0" tIns="0" rIns="0" bIns="0" rtlCol="0" anchor="t"/>
          <a:lstStyle/>
          <a:p>
            <a:pPr algn="l" indent="0" marL="0">
              <a:lnSpc>
                <a:spcPts val="1700"/>
              </a:lnSpc>
              <a:buNone/>
            </a:pPr>
            <a:r>
              <a:rPr lang="en-US" sz="1200" dirty="0">
                <a:solidFill>
                  <a:srgbClr val="A1A1AA"/>
                </a:solidFill>
                <a:latin typeface="Geist" pitchFamily="34" charset="0"/>
                <a:ea typeface="Geist" pitchFamily="34" charset="-122"/>
                <a:cs typeface="Geist" pitchFamily="34" charset="-120"/>
              </a:rPr>
              <a:t>The voice pipeline rings back for</a:t>
            </a:r>
            <a:br/>
            <a:pPr algn="l" indent="0" marL="0">
              <a:lnSpc>
                <a:spcPts val="1700"/>
              </a:lnSpc>
              <a:buNone/>
            </a:pPr>
            <a:r>
              <a:rPr lang="en-US" sz="1200" dirty="0">
                <a:solidFill>
                  <a:srgbClr val="A1A1AA"/>
                </a:solidFill>
                <a:latin typeface="Geist" pitchFamily="34" charset="0"/>
                <a:ea typeface="Geist" pitchFamily="34" charset="-122"/>
                <a:cs typeface="Geist" pitchFamily="34" charset="-120"/>
              </a:rPr>
              <a:t>reminders and abandoned</a:t>
            </a:r>
            <a:br/>
            <a:pPr algn="l" indent="0" marL="0">
              <a:lnSpc>
                <a:spcPts val="1700"/>
              </a:lnSpc>
              <a:buNone/>
            </a:pPr>
            <a:r>
              <a:rPr lang="en-US" sz="1200" dirty="0">
                <a:solidFill>
                  <a:srgbClr val="A1A1AA"/>
                </a:solidFill>
                <a:latin typeface="Geist" pitchFamily="34" charset="0"/>
                <a:ea typeface="Geist" pitchFamily="34" charset="-122"/>
                <a:cs typeface="Geist" pitchFamily="34" charset="-120"/>
              </a:rPr>
              <a:t>conversations.</a:t>
            </a:r>
            <a:endParaRPr lang="en-US" sz="1200" dirty="0"/>
          </a:p>
        </p:txBody>
      </p:sp>
      <p:sp>
        <p:nvSpPr>
          <p:cNvPr id="21" name="Text 19"/>
          <p:cNvSpPr txBox="1"/>
          <p:nvPr/>
        </p:nvSpPr>
        <p:spPr>
          <a:xfrm>
            <a:off x="9163050" y="2794000"/>
            <a:ext cx="326231" cy="193040"/>
          </a:xfrm>
          <a:prstGeom prst="rect">
            <a:avLst/>
          </a:prstGeom>
          <a:noFill/>
          <a:ln/>
        </p:spPr>
        <p:txBody>
          <a:bodyPr wrap="square" lIns="0" tIns="0" rIns="0" bIns="0" rtlCol="0" anchor="t"/>
          <a:lstStyle/>
          <a:p>
            <a:pPr algn="l" indent="0" marL="0">
              <a:lnSpc>
                <a:spcPts val="1200"/>
              </a:lnSpc>
              <a:buNone/>
            </a:pPr>
            <a:r>
              <a:rPr lang="en-US" sz="900" spc="144" kern="0" dirty="0">
                <a:solidFill>
                  <a:srgbClr val="8A8A93"/>
                </a:solidFill>
                <a:latin typeface="Geist Mono" pitchFamily="34" charset="0"/>
                <a:ea typeface="Geist Mono" pitchFamily="34" charset="-122"/>
                <a:cs typeface="Geist Mono" pitchFamily="34" charset="-120"/>
              </a:rPr>
              <a:t>04</a:t>
            </a:r>
            <a:endParaRPr lang="en-US" sz="900" dirty="0"/>
          </a:p>
        </p:txBody>
      </p:sp>
      <p:sp>
        <p:nvSpPr>
          <p:cNvPr id="22" name="Text 20"/>
          <p:cNvSpPr txBox="1"/>
          <p:nvPr/>
        </p:nvSpPr>
        <p:spPr>
          <a:xfrm>
            <a:off x="8934450" y="3124200"/>
            <a:ext cx="2551176" cy="695960"/>
          </a:xfrm>
          <a:prstGeom prst="rect">
            <a:avLst/>
          </a:prstGeom>
          <a:noFill/>
          <a:ln/>
        </p:spPr>
        <p:txBody>
          <a:bodyPr wrap="square" lIns="0" tIns="0" rIns="0" bIns="0" rtlCol="0" anchor="t"/>
          <a:lstStyle/>
          <a:p>
            <a:pPr algn="l" indent="0" marL="0">
              <a:lnSpc>
                <a:spcPts val="2400"/>
              </a:lnSpc>
              <a:buNone/>
            </a:pPr>
            <a:r>
              <a:rPr lang="en-US" sz="2200" spc="-22" kern="0" dirty="0">
                <a:solidFill>
                  <a:srgbClr val="F4F4F5"/>
                </a:solidFill>
                <a:latin typeface="Instrument Serif" pitchFamily="34" charset="0"/>
                <a:ea typeface="Instrument Serif" pitchFamily="34" charset="-122"/>
                <a:cs typeface="Instrument Serif" pitchFamily="34" charset="-120"/>
              </a:rPr>
              <a:t>Evals on every pull</a:t>
            </a:r>
            <a:br/>
            <a:pPr algn="l" indent="0" marL="0">
              <a:lnSpc>
                <a:spcPts val="2400"/>
              </a:lnSpc>
              <a:buNone/>
            </a:pPr>
            <a:r>
              <a:rPr lang="en-US" sz="2200" spc="-22" kern="0" dirty="0">
                <a:solidFill>
                  <a:srgbClr val="F4F4F5"/>
                </a:solidFill>
                <a:latin typeface="Instrument Serif" pitchFamily="34" charset="0"/>
                <a:ea typeface="Instrument Serif" pitchFamily="34" charset="-122"/>
                <a:cs typeface="Instrument Serif" pitchFamily="34" charset="-120"/>
              </a:rPr>
              <a:t>request</a:t>
            </a:r>
            <a:endParaRPr lang="en-US" sz="2200" dirty="0"/>
          </a:p>
        </p:txBody>
      </p:sp>
      <p:sp>
        <p:nvSpPr>
          <p:cNvPr id="23" name="Text 21"/>
          <p:cNvSpPr txBox="1"/>
          <p:nvPr/>
        </p:nvSpPr>
        <p:spPr>
          <a:xfrm>
            <a:off x="8934450" y="3810000"/>
            <a:ext cx="2482596" cy="500380"/>
          </a:xfrm>
          <a:prstGeom prst="rect">
            <a:avLst/>
          </a:prstGeom>
          <a:noFill/>
          <a:ln/>
        </p:spPr>
        <p:txBody>
          <a:bodyPr wrap="square" lIns="0" tIns="0" rIns="0" bIns="0" rtlCol="0" anchor="t"/>
          <a:lstStyle/>
          <a:p>
            <a:pPr algn="l" indent="0" marL="0">
              <a:lnSpc>
                <a:spcPts val="1700"/>
              </a:lnSpc>
              <a:buNone/>
            </a:pPr>
            <a:r>
              <a:rPr lang="en-US" sz="1200" dirty="0">
                <a:solidFill>
                  <a:srgbClr val="A1A1AA"/>
                </a:solidFill>
                <a:latin typeface="Geist" pitchFamily="34" charset="0"/>
                <a:ea typeface="Geist" pitchFamily="34" charset="-122"/>
                <a:cs typeface="Geist" pitchFamily="34" charset="-120"/>
              </a:rPr>
              <a:t>A prompt change that breaks a</a:t>
            </a:r>
            <a:br/>
            <a:pPr algn="l" indent="0" marL="0">
              <a:lnSpc>
                <a:spcPts val="1700"/>
              </a:lnSpc>
              <a:buNone/>
            </a:pPr>
            <a:r>
              <a:rPr lang="en-US" sz="1200" dirty="0">
                <a:solidFill>
                  <a:srgbClr val="A1A1AA"/>
                </a:solidFill>
                <a:latin typeface="Geist" pitchFamily="34" charset="0"/>
                <a:ea typeface="Geist" pitchFamily="34" charset="-122"/>
                <a:cs typeface="Geist" pitchFamily="34" charset="-120"/>
              </a:rPr>
              <a:t>scenario never ships.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Slide artwork" descr="Close slide artwork">    </p:cNvPr>
          <p:cNvPicPr>
            <a:picLocks noChangeAspect="1"/>
          </p:cNvPicPr>
          <p:nvPr/>
        </p:nvPicPr>
        <p:blipFill>
          <a:blip r:embed="rId1"/>
          <a:stretch>
            <a:fillRect/>
          </a:stretch>
        </p:blipFill>
        <p:spPr>
          <a:xfrm>
            <a:off x="0" y="0"/>
            <a:ext cx="12191695" cy="6858000"/>
          </a:xfrm>
          <a:prstGeom prst="rect">
            <a:avLst/>
          </a:prstGeom>
        </p:spPr>
      </p:pic>
      <p:sp>
        <p:nvSpPr>
          <p:cNvPr id="3" name="Text 1"/>
          <p:cNvSpPr txBox="1"/>
          <p:nvPr/>
        </p:nvSpPr>
        <p:spPr>
          <a:xfrm>
            <a:off x="1066800" y="457200"/>
            <a:ext cx="601464" cy="304800"/>
          </a:xfrm>
          <a:prstGeom prst="rect">
            <a:avLst/>
          </a:prstGeom>
          <a:noFill/>
          <a:ln/>
        </p:spPr>
        <p:txBody>
          <a:bodyPr wrap="square" lIns="0" tIns="0" rIns="0" bIns="0" rtlCol="0" anchor="t"/>
          <a:lstStyle/>
          <a:p>
            <a:pPr algn="l" indent="0" marL="0">
              <a:lnSpc>
                <a:spcPts val="2000"/>
              </a:lnSpc>
              <a:buNone/>
            </a:pPr>
            <a:r>
              <a:rPr lang="en-US" sz="1800" dirty="0">
                <a:solidFill>
                  <a:srgbClr val="F4F4F5"/>
                </a:solidFill>
                <a:latin typeface="Instrument Serif" pitchFamily="34" charset="0"/>
                <a:ea typeface="Instrument Serif" pitchFamily="34" charset="-122"/>
                <a:cs typeface="Instrument Serif" pitchFamily="34" charset="-120"/>
              </a:rPr>
              <a:t>Suryo</a:t>
            </a:r>
            <a:endParaRPr lang="en-US" sz="1800" dirty="0"/>
          </a:p>
        </p:txBody>
      </p:sp>
      <p:sp>
        <p:nvSpPr>
          <p:cNvPr id="4" name="Text 2"/>
          <p:cNvSpPr txBox="1"/>
          <p:nvPr/>
        </p:nvSpPr>
        <p:spPr>
          <a:xfrm>
            <a:off x="609600" y="1397000"/>
            <a:ext cx="10972800" cy="1590040"/>
          </a:xfrm>
          <a:prstGeom prst="rect">
            <a:avLst/>
          </a:prstGeom>
          <a:noFill/>
          <a:ln/>
        </p:spPr>
        <p:txBody>
          <a:bodyPr wrap="square" lIns="0" tIns="0" rIns="0" bIns="0" rtlCol="0" anchor="t"/>
          <a:lstStyle/>
          <a:p>
            <a:pPr algn="ctr" indent="0" marL="0">
              <a:lnSpc>
                <a:spcPts val="5600"/>
              </a:lnSpc>
              <a:buNone/>
            </a:pPr>
            <a:r>
              <a:rPr lang="en-US" sz="5600" spc="-90" kern="0" dirty="0">
                <a:solidFill>
                  <a:srgbClr val="F4F4F5"/>
                </a:solidFill>
                <a:latin typeface="Instrument Serif" pitchFamily="34" charset="0"/>
                <a:ea typeface="Instrument Serif" pitchFamily="34" charset="-122"/>
                <a:cs typeface="Instrument Serif" pitchFamily="34" charset="-120"/>
              </a:rPr>
              <a:t>Your clients’ front desk, live in a minute,</a:t>
            </a:r>
            <a:br/>
            <a:pPr algn="ctr" indent="0" marL="0">
              <a:lnSpc>
                <a:spcPts val="5600"/>
              </a:lnSpc>
              <a:buNone/>
            </a:pPr>
            <a:r>
              <a:rPr lang="en-US" sz="5600" spc="-90" kern="0" dirty="0">
                <a:solidFill>
                  <a:srgbClr val="F4F4F5"/>
                </a:solidFill>
                <a:latin typeface="Instrument Serif" pitchFamily="34" charset="0"/>
                <a:ea typeface="Instrument Serif" pitchFamily="34" charset="-122"/>
                <a:cs typeface="Instrument Serif" pitchFamily="34" charset="-120"/>
              </a:rPr>
              <a:t>and it </a:t>
            </a:r>
            <a:pPr algn="ctr" indent="0" marL="0">
              <a:lnSpc>
                <a:spcPts val="5600"/>
              </a:lnSpc>
              <a:buNone/>
            </a:pPr>
            <a:r>
              <a:rPr lang="en-US" sz="5600" i="1" spc="-90" kern="0" dirty="0">
                <a:solidFill>
                  <a:srgbClr val="FF7A30"/>
                </a:solidFill>
                <a:latin typeface="Instrument Serif" pitchFamily="34" charset="0"/>
                <a:ea typeface="Instrument Serif" pitchFamily="34" charset="-122"/>
                <a:cs typeface="Instrument Serif" pitchFamily="34" charset="-120"/>
              </a:rPr>
              <a:t>never forgets</a:t>
            </a:r>
            <a:pPr algn="ctr" indent="0" marL="0">
              <a:lnSpc>
                <a:spcPts val="5600"/>
              </a:lnSpc>
              <a:buNone/>
            </a:pPr>
            <a:r>
              <a:rPr lang="en-US" sz="5600" spc="-90" kern="0" dirty="0">
                <a:solidFill>
                  <a:srgbClr val="F4F4F5"/>
                </a:solidFill>
                <a:latin typeface="Instrument Serif" pitchFamily="34" charset="0"/>
                <a:ea typeface="Instrument Serif" pitchFamily="34" charset="-122"/>
                <a:cs typeface="Instrument Serif" pitchFamily="34" charset="-120"/>
              </a:rPr>
              <a:t> a follow up.</a:t>
            </a:r>
            <a:endParaRPr lang="en-US" sz="5600" dirty="0"/>
          </a:p>
        </p:txBody>
      </p:sp>
      <p:sp>
        <p:nvSpPr>
          <p:cNvPr id="5" name="Text 3"/>
          <p:cNvSpPr txBox="1"/>
          <p:nvPr/>
        </p:nvSpPr>
        <p:spPr>
          <a:xfrm>
            <a:off x="609600" y="3276600"/>
            <a:ext cx="10972800" cy="193040"/>
          </a:xfrm>
          <a:prstGeom prst="rect">
            <a:avLst/>
          </a:prstGeom>
          <a:noFill/>
          <a:ln/>
        </p:spPr>
        <p:txBody>
          <a:bodyPr wrap="square" lIns="0" tIns="0" rIns="0" bIns="0" rtlCol="0" anchor="t"/>
          <a:lstStyle/>
          <a:p>
            <a:pPr algn="ctr" indent="0" marL="0">
              <a:lnSpc>
                <a:spcPts val="1200"/>
              </a:lnSpc>
              <a:buNone/>
            </a:pPr>
            <a:r>
              <a:rPr lang="en-US" sz="900" spc="144" kern="0" dirty="0">
                <a:solidFill>
                  <a:srgbClr val="FF7A30"/>
                </a:solidFill>
                <a:latin typeface="Geist Mono" pitchFamily="34" charset="0"/>
                <a:ea typeface="Geist Mono" pitchFamily="34" charset="-122"/>
                <a:cs typeface="Geist Mono" pitchFamily="34" charset="-120"/>
              </a:rPr>
              <a:t>TEAM MITOCONDRIA</a:t>
            </a:r>
            <a:endParaRPr lang="en-US" sz="900" dirty="0"/>
          </a:p>
        </p:txBody>
      </p:sp>
      <p:sp>
        <p:nvSpPr>
          <p:cNvPr id="6" name="Text 4"/>
          <p:cNvSpPr txBox="1"/>
          <p:nvPr/>
        </p:nvSpPr>
        <p:spPr>
          <a:xfrm>
            <a:off x="609600" y="3517900"/>
            <a:ext cx="10972800" cy="332740"/>
          </a:xfrm>
          <a:prstGeom prst="rect">
            <a:avLst/>
          </a:prstGeom>
          <a:noFill/>
          <a:ln/>
        </p:spPr>
        <p:txBody>
          <a:bodyPr wrap="square" lIns="0" tIns="0" rIns="0" bIns="0" rtlCol="0" anchor="t"/>
          <a:lstStyle/>
          <a:p>
            <a:pPr algn="ctr" indent="0" marL="0">
              <a:lnSpc>
                <a:spcPts val="2200"/>
              </a:lnSpc>
              <a:buNone/>
            </a:pPr>
            <a:r>
              <a:rPr lang="en-US" sz="1600" dirty="0">
                <a:solidFill>
                  <a:srgbClr val="F4F4F5"/>
                </a:solidFill>
                <a:latin typeface="Geist" pitchFamily="34" charset="0"/>
                <a:ea typeface="Geist" pitchFamily="34" charset="-122"/>
                <a:cs typeface="Geist" pitchFamily="34" charset="-120"/>
              </a:rPr>
              <a:t>Ayush Gupta </a:t>
            </a:r>
            <a:pPr algn="ctr" indent="0" marL="0">
              <a:lnSpc>
                <a:spcPts val="2200"/>
              </a:lnSpc>
              <a:buNone/>
            </a:pPr>
            <a:r>
              <a:rPr lang="en-US" sz="1600" dirty="0">
                <a:solidFill>
                  <a:srgbClr val="52525B"/>
                </a:solidFill>
                <a:latin typeface="Geist" pitchFamily="34" charset="0"/>
                <a:ea typeface="Geist" pitchFamily="34" charset="-122"/>
                <a:cs typeface="Geist" pitchFamily="34" charset="-120"/>
              </a:rPr>
              <a:t>·</a:t>
            </a:r>
            <a:pPr algn="ctr" indent="0" marL="0">
              <a:lnSpc>
                <a:spcPts val="2200"/>
              </a:lnSpc>
              <a:buNone/>
            </a:pPr>
            <a:r>
              <a:rPr lang="en-US" sz="1600" dirty="0">
                <a:solidFill>
                  <a:srgbClr val="F4F4F5"/>
                </a:solidFill>
                <a:latin typeface="Geist" pitchFamily="34" charset="0"/>
                <a:ea typeface="Geist" pitchFamily="34" charset="-122"/>
                <a:cs typeface="Geist" pitchFamily="34" charset="-120"/>
              </a:rPr>
              <a:t> Ayush Parmar </a:t>
            </a:r>
            <a:pPr algn="ctr" indent="0" marL="0">
              <a:lnSpc>
                <a:spcPts val="2200"/>
              </a:lnSpc>
              <a:buNone/>
            </a:pPr>
            <a:r>
              <a:rPr lang="en-US" sz="1600" dirty="0">
                <a:solidFill>
                  <a:srgbClr val="52525B"/>
                </a:solidFill>
                <a:latin typeface="Geist" pitchFamily="34" charset="0"/>
                <a:ea typeface="Geist" pitchFamily="34" charset="-122"/>
                <a:cs typeface="Geist" pitchFamily="34" charset="-120"/>
              </a:rPr>
              <a:t>·</a:t>
            </a:r>
            <a:pPr algn="ctr" indent="0" marL="0">
              <a:lnSpc>
                <a:spcPts val="2200"/>
              </a:lnSpc>
              <a:buNone/>
            </a:pPr>
            <a:r>
              <a:rPr lang="en-US" sz="1600" dirty="0">
                <a:solidFill>
                  <a:srgbClr val="F4F4F5"/>
                </a:solidFill>
                <a:latin typeface="Geist" pitchFamily="34" charset="0"/>
                <a:ea typeface="Geist" pitchFamily="34" charset="-122"/>
                <a:cs typeface="Geist" pitchFamily="34" charset="-120"/>
              </a:rPr>
              <a:t> Ayush Chouksey </a:t>
            </a:r>
            <a:pPr algn="ctr" indent="0" marL="0">
              <a:lnSpc>
                <a:spcPts val="2200"/>
              </a:lnSpc>
              <a:buNone/>
            </a:pPr>
            <a:r>
              <a:rPr lang="en-US" sz="1600" dirty="0">
                <a:solidFill>
                  <a:srgbClr val="52525B"/>
                </a:solidFill>
                <a:latin typeface="Geist" pitchFamily="34" charset="0"/>
                <a:ea typeface="Geist" pitchFamily="34" charset="-122"/>
                <a:cs typeface="Geist" pitchFamily="34" charset="-120"/>
              </a:rPr>
              <a:t>·</a:t>
            </a:r>
            <a:pPr algn="ctr" indent="0" marL="0">
              <a:lnSpc>
                <a:spcPts val="2200"/>
              </a:lnSpc>
              <a:buNone/>
            </a:pPr>
            <a:r>
              <a:rPr lang="en-US" sz="1600" dirty="0">
                <a:solidFill>
                  <a:srgbClr val="F4F4F5"/>
                </a:solidFill>
                <a:latin typeface="Geist" pitchFamily="34" charset="0"/>
                <a:ea typeface="Geist" pitchFamily="34" charset="-122"/>
                <a:cs typeface="Geist" pitchFamily="34" charset="-120"/>
              </a:rPr>
              <a:t> Ayushman Singh</a:t>
            </a:r>
            <a:endParaRPr lang="en-US" sz="1600" dirty="0"/>
          </a:p>
        </p:txBody>
      </p:sp>
      <p:sp>
        <p:nvSpPr>
          <p:cNvPr id="7" name="Text 5"/>
          <p:cNvSpPr txBox="1"/>
          <p:nvPr/>
        </p:nvSpPr>
        <p:spPr>
          <a:xfrm>
            <a:off x="609600" y="4013200"/>
            <a:ext cx="10972800" cy="248920"/>
          </a:xfrm>
          <a:prstGeom prst="rect">
            <a:avLst/>
          </a:prstGeom>
          <a:noFill/>
          <a:ln/>
        </p:spPr>
        <p:txBody>
          <a:bodyPr wrap="square" lIns="0" tIns="0" rIns="0" bIns="0" rtlCol="0" anchor="t"/>
          <a:lstStyle/>
          <a:p>
            <a:pPr algn="ctr" indent="0" marL="0">
              <a:lnSpc>
                <a:spcPts val="1600"/>
              </a:lnSpc>
              <a:buNone/>
            </a:pPr>
            <a:r>
              <a:rPr lang="en-US" sz="1200" spc="48" kern="0" dirty="0">
                <a:solidFill>
                  <a:srgbClr val="A1A1AA"/>
                </a:solidFill>
                <a:latin typeface="Geist Mono" pitchFamily="34" charset="0"/>
                <a:ea typeface="Geist Mono" pitchFamily="34" charset="-122"/>
                <a:cs typeface="Geist Mono" pitchFamily="34" charset="-120"/>
              </a:rPr>
              <a:t>suryo-eight.vercel.app</a:t>
            </a:r>
            <a:endParaRPr lang="en-US" sz="1200" dirty="0"/>
          </a:p>
        </p:txBody>
      </p:sp>
    </p:spTree>
  </p:cSld>
  <p:clrMapOvr>
    <a:masterClrMapping/>
  </p:clrMapOvr>
</p:sld>
</file>

<file path=ppt/theme/theme1.xml><?xml version="1.0" encoding="utf-8"?>
<a:theme xmlns:a="http://schemas.openxmlformats.org/drawingml/2006/main" name="Suryo">
  <a:themeElements>
    <a:clrScheme name="Suryo">
      <a:dk1>
        <a:srgbClr val="08080A"/>
      </a:dk1>
      <a:lt1>
        <a:srgbClr val="F4F4F5"/>
      </a:lt1>
      <a:dk2>
        <a:srgbClr val="131317"/>
      </a:dk2>
      <a:lt2>
        <a:srgbClr val="A1A1AA"/>
      </a:lt2>
      <a:accent1>
        <a:srgbClr val="FF7A30"/>
      </a:accent1>
      <a:accent2>
        <a:srgbClr val="FFB07A"/>
      </a:accent2>
      <a:accent3>
        <a:srgbClr val="F2545B"/>
      </a:accent3>
      <a:accent4>
        <a:srgbClr val="8A8A93"/>
      </a:accent4>
      <a:accent5>
        <a:srgbClr val="D9541A"/>
      </a:accent5>
      <a:accent6>
        <a:srgbClr val="52525B"/>
      </a:accent6>
      <a:hlink>
        <a:srgbClr val="FFB07A"/>
      </a:hlink>
      <a:folHlink>
        <a:srgbClr val="FF7A30"/>
      </a:folHlink>
    </a:clrScheme>
    <a:fontScheme name="Suryo">
      <a:majorFont>
        <a:latin typeface="Instrument Serif"/>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Suryo Pitch</dc:title>
  <dc:subject>CODE E FIESTA 2026, Problem Statement 03</dc:subject>
  <dc:creator>Team Mitocondria</dc:creator>
  <cp:lastModifiedBy>Team Mitocondria</cp:lastModifiedBy>
  <cp:revision>1</cp:revision>
  <dcterms:created xsi:type="dcterms:W3CDTF">2026-10-28T08:58:12Z</dcterms:created>
  <dcterms:modified xsi:type="dcterms:W3CDTF">2026-10-28T08:58:12Z</dcterms:modified>
</cp:coreProperties>
</file>